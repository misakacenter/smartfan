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32" r:id="rId2"/>
    <p:sldId id="272" r:id="rId3"/>
    <p:sldId id="342" r:id="rId4"/>
    <p:sldId id="343" r:id="rId5"/>
    <p:sldId id="347" r:id="rId6"/>
    <p:sldId id="344" r:id="rId7"/>
    <p:sldId id="345" r:id="rId8"/>
    <p:sldId id="346" r:id="rId9"/>
    <p:sldId id="350" r:id="rId10"/>
    <p:sldId id="341" r:id="rId11"/>
    <p:sldId id="276" r:id="rId1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3244"/>
    <a:srgbClr val="D8DCDF"/>
    <a:srgbClr val="A9B3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667" autoAdjust="0"/>
  </p:normalViewPr>
  <p:slideViewPr>
    <p:cSldViewPr snapToGrid="0">
      <p:cViewPr varScale="1">
        <p:scale>
          <a:sx n="78" d="100"/>
          <a:sy n="78" d="100"/>
        </p:scale>
        <p:origin x="835" y="67"/>
      </p:cViewPr>
      <p:guideLst>
        <p:guide orient="horz" pos="215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2020/7/14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986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795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905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0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975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948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648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t>2020/7/14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等线 Light" panose="02010600030101010101" charset="-122"/>
                <a:ea typeface="等线 Light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等线 Light" panose="02010600030101010101" charset="-122"/>
                <a:ea typeface="等线 Light" panose="02010600030101010101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2020/7/14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timg"/>
          <p:cNvPicPr>
            <a:picLocks noChangeAspect="1"/>
          </p:cNvPicPr>
          <p:nvPr userDrawn="1"/>
        </p:nvPicPr>
        <p:blipFill>
          <a:blip r:embed="rId2"/>
          <a:srcRect l="50643" r="12081"/>
          <a:stretch>
            <a:fillRect/>
          </a:stretch>
        </p:blipFill>
        <p:spPr>
          <a:xfrm>
            <a:off x="9716770" y="2045335"/>
            <a:ext cx="1904365" cy="319341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9121140" y="1428750"/>
            <a:ext cx="0" cy="3999230"/>
          </a:xfrm>
          <a:prstGeom prst="line">
            <a:avLst/>
          </a:prstGeom>
          <a:ln w="4762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59635" y="2435593"/>
            <a:ext cx="8426409" cy="992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lnSpc>
                <a:spcPct val="150000"/>
              </a:lnSpc>
            </a:pPr>
            <a:r>
              <a:rPr lang="zh-CN" altLang="en-US" sz="44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一种基于</a:t>
            </a:r>
            <a:r>
              <a:rPr lang="en-US" altLang="zh-CN" sz="44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Arduino</a:t>
            </a:r>
            <a:r>
              <a:rPr lang="zh-CN" altLang="en-US" sz="44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的智能无叶风扇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54719" y="425391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上海交通大学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9880" y="151765"/>
            <a:ext cx="10515600" cy="1325563"/>
          </a:xfrm>
          <a:effectLst/>
        </p:spPr>
        <p:txBody>
          <a:bodyPr>
            <a:norm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项目由来</a:t>
            </a:r>
            <a:endParaRPr lang="zh-CN" altLang="en-US" sz="5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25599" y="2949189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>
            <a:off x="4226559" y="4472458"/>
            <a:ext cx="1319112" cy="695003"/>
          </a:xfrm>
          <a:custGeom>
            <a:avLst/>
            <a:gdLst>
              <a:gd name="connsiteX0" fmla="*/ 0 w 1244183"/>
              <a:gd name="connsiteY0" fmla="*/ 0 h 316727"/>
              <a:gd name="connsiteX1" fmla="*/ 674557 w 1244183"/>
              <a:gd name="connsiteY1" fmla="*/ 269823 h 316727"/>
              <a:gd name="connsiteX2" fmla="*/ 1244183 w 1244183"/>
              <a:gd name="connsiteY2" fmla="*/ 314793 h 316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4183" h="316727">
                <a:moveTo>
                  <a:pt x="0" y="0"/>
                </a:moveTo>
                <a:cubicBezTo>
                  <a:pt x="233596" y="108679"/>
                  <a:pt x="467193" y="217358"/>
                  <a:pt x="674557" y="269823"/>
                </a:cubicBezTo>
                <a:cubicBezTo>
                  <a:pt x="881921" y="322288"/>
                  <a:pt x="1063052" y="318540"/>
                  <a:pt x="1244183" y="314793"/>
                </a:cubicBezTo>
              </a:path>
            </a:pathLst>
          </a:cu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5470742" y="4991763"/>
            <a:ext cx="397095" cy="397095"/>
            <a:chOff x="5321717" y="4301054"/>
            <a:chExt cx="397094" cy="397094"/>
          </a:xfrm>
        </p:grpSpPr>
        <p:sp>
          <p:nvSpPr>
            <p:cNvPr id="9" name="椭圆 8"/>
            <p:cNvSpPr/>
            <p:nvPr/>
          </p:nvSpPr>
          <p:spPr>
            <a:xfrm>
              <a:off x="5321717" y="4301054"/>
              <a:ext cx="397094" cy="397094"/>
            </a:xfrm>
            <a:prstGeom prst="ellipse">
              <a:avLst/>
            </a:prstGeom>
            <a:solidFill>
              <a:srgbClr val="B0E4E3"/>
            </a:solidFill>
            <a:ln>
              <a:noFill/>
            </a:ln>
            <a:effectLst>
              <a:outerShdw blurRad="63500" dist="76200" dir="9600000" sx="102000" sy="102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5396439" y="4375776"/>
              <a:ext cx="247650" cy="2476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6"/>
          <p:cNvSpPr txBox="1"/>
          <p:nvPr/>
        </p:nvSpPr>
        <p:spPr>
          <a:xfrm>
            <a:off x="6096000" y="528713"/>
            <a:ext cx="5118818" cy="2601546"/>
          </a:xfrm>
          <a:prstGeom prst="rect">
            <a:avLst/>
          </a:prstGeom>
          <a:noFill/>
          <a:ln w="9525">
            <a:noFill/>
            <a:prstDash val="dash"/>
          </a:ln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有叶风扇造型丑陋且容易造成危险，表面积尘不易清理。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传统风扇智能化程度低，不能自主响应环境变化。</a:t>
            </a:r>
          </a:p>
        </p:txBody>
      </p:sp>
      <p:sp>
        <p:nvSpPr>
          <p:cNvPr id="16" name="文本框 20"/>
          <p:cNvSpPr txBox="1"/>
          <p:nvPr/>
        </p:nvSpPr>
        <p:spPr>
          <a:xfrm>
            <a:off x="6115450" y="4085302"/>
            <a:ext cx="4725921" cy="1955215"/>
          </a:xfrm>
          <a:prstGeom prst="rect">
            <a:avLst/>
          </a:prstGeom>
          <a:noFill/>
          <a:ln w="9525">
            <a:noFill/>
            <a:prstDash val="dash"/>
          </a:ln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无叶风扇</a:t>
            </a:r>
            <a:endParaRPr kumimoji="1" lang="en-US" altLang="zh-CN" sz="28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</a:p>
          <a:p>
            <a:pPr algn="ctr">
              <a:lnSpc>
                <a:spcPct val="150000"/>
              </a:lnSpc>
            </a:pPr>
            <a:r>
              <a:rPr kumimoji="1" lang="zh-CN" altLang="en-US" sz="2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自动控制</a:t>
            </a:r>
          </a:p>
        </p:txBody>
      </p:sp>
      <p:sp>
        <p:nvSpPr>
          <p:cNvPr id="17" name="任意多边形 16"/>
          <p:cNvSpPr/>
          <p:nvPr/>
        </p:nvSpPr>
        <p:spPr>
          <a:xfrm>
            <a:off x="4054483" y="1996849"/>
            <a:ext cx="1416259" cy="621513"/>
          </a:xfrm>
          <a:custGeom>
            <a:avLst/>
            <a:gdLst>
              <a:gd name="connsiteX0" fmla="*/ 0 w 1428750"/>
              <a:gd name="connsiteY0" fmla="*/ 323850 h 323850"/>
              <a:gd name="connsiteX1" fmla="*/ 704850 w 1428750"/>
              <a:gd name="connsiteY1" fmla="*/ 57150 h 323850"/>
              <a:gd name="connsiteX2" fmla="*/ 1428750 w 1428750"/>
              <a:gd name="connsiteY2" fmla="*/ 0 h 32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8750" h="323850">
                <a:moveTo>
                  <a:pt x="0" y="323850"/>
                </a:moveTo>
                <a:cubicBezTo>
                  <a:pt x="233362" y="217487"/>
                  <a:pt x="466725" y="111125"/>
                  <a:pt x="704850" y="57150"/>
                </a:cubicBezTo>
                <a:cubicBezTo>
                  <a:pt x="942975" y="3175"/>
                  <a:pt x="1185862" y="1587"/>
                  <a:pt x="1428750" y="0"/>
                </a:cubicBezTo>
              </a:path>
            </a:pathLst>
          </a:cu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5470949" y="1810155"/>
            <a:ext cx="397095" cy="397095"/>
            <a:chOff x="5321717" y="1828800"/>
            <a:chExt cx="397094" cy="397094"/>
          </a:xfrm>
        </p:grpSpPr>
        <p:sp>
          <p:nvSpPr>
            <p:cNvPr id="19" name="椭圆 18"/>
            <p:cNvSpPr/>
            <p:nvPr/>
          </p:nvSpPr>
          <p:spPr>
            <a:xfrm>
              <a:off x="5321717" y="1828800"/>
              <a:ext cx="397094" cy="39709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63500" dist="76200" dir="9600000" sx="102000" sy="102000" algn="ctr" rotWithShape="0">
                <a:prstClr val="black">
                  <a:alpha val="1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5396439" y="1903522"/>
              <a:ext cx="247650" cy="2476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390555" y="2157561"/>
            <a:ext cx="3009900" cy="3009900"/>
            <a:chOff x="1248412" y="2958121"/>
            <a:chExt cx="3009900" cy="3009900"/>
          </a:xfrm>
        </p:grpSpPr>
        <p:sp>
          <p:nvSpPr>
            <p:cNvPr id="26" name="椭圆 25"/>
            <p:cNvSpPr/>
            <p:nvPr/>
          </p:nvSpPr>
          <p:spPr>
            <a:xfrm>
              <a:off x="1457962" y="3167671"/>
              <a:ext cx="2590800" cy="2590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50800" algn="c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248412" y="2958121"/>
              <a:ext cx="3009900" cy="30099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717228" y="3473304"/>
              <a:ext cx="1979533" cy="1979533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9" name="Group 4"/>
            <p:cNvGrpSpPr>
              <a:grpSpLocks noChangeAspect="1"/>
            </p:cNvGrpSpPr>
            <p:nvPr/>
          </p:nvGrpSpPr>
          <p:grpSpPr bwMode="auto">
            <a:xfrm>
              <a:off x="2400478" y="3967949"/>
              <a:ext cx="613034" cy="613034"/>
              <a:chOff x="1389" y="2542"/>
              <a:chExt cx="632" cy="632"/>
            </a:xfrm>
          </p:grpSpPr>
          <p:sp>
            <p:nvSpPr>
              <p:cNvPr id="31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1389" y="2542"/>
                <a:ext cx="632" cy="6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5"/>
              <p:cNvSpPr>
                <a:spLocks noEditPoints="1"/>
              </p:cNvSpPr>
              <p:nvPr/>
            </p:nvSpPr>
            <p:spPr bwMode="auto">
              <a:xfrm>
                <a:off x="1393" y="2546"/>
                <a:ext cx="632" cy="632"/>
              </a:xfrm>
              <a:custGeom>
                <a:avLst/>
                <a:gdLst>
                  <a:gd name="T0" fmla="*/ 26 w 168"/>
                  <a:gd name="T1" fmla="*/ 0 h 168"/>
                  <a:gd name="T2" fmla="*/ 0 w 168"/>
                  <a:gd name="T3" fmla="*/ 26 h 168"/>
                  <a:gd name="T4" fmla="*/ 0 w 168"/>
                  <a:gd name="T5" fmla="*/ 102 h 168"/>
                  <a:gd name="T6" fmla="*/ 26 w 168"/>
                  <a:gd name="T7" fmla="*/ 128 h 168"/>
                  <a:gd name="T8" fmla="*/ 64 w 168"/>
                  <a:gd name="T9" fmla="*/ 128 h 168"/>
                  <a:gd name="T10" fmla="*/ 64 w 168"/>
                  <a:gd name="T11" fmla="*/ 152 h 168"/>
                  <a:gd name="T12" fmla="*/ 52 w 168"/>
                  <a:gd name="T13" fmla="*/ 152 h 168"/>
                  <a:gd name="T14" fmla="*/ 44 w 168"/>
                  <a:gd name="T15" fmla="*/ 160 h 168"/>
                  <a:gd name="T16" fmla="*/ 52 w 168"/>
                  <a:gd name="T17" fmla="*/ 168 h 168"/>
                  <a:gd name="T18" fmla="*/ 116 w 168"/>
                  <a:gd name="T19" fmla="*/ 168 h 168"/>
                  <a:gd name="T20" fmla="*/ 124 w 168"/>
                  <a:gd name="T21" fmla="*/ 160 h 168"/>
                  <a:gd name="T22" fmla="*/ 116 w 168"/>
                  <a:gd name="T23" fmla="*/ 152 h 168"/>
                  <a:gd name="T24" fmla="*/ 104 w 168"/>
                  <a:gd name="T25" fmla="*/ 152 h 168"/>
                  <a:gd name="T26" fmla="*/ 104 w 168"/>
                  <a:gd name="T27" fmla="*/ 128 h 168"/>
                  <a:gd name="T28" fmla="*/ 142 w 168"/>
                  <a:gd name="T29" fmla="*/ 128 h 168"/>
                  <a:gd name="T30" fmla="*/ 168 w 168"/>
                  <a:gd name="T31" fmla="*/ 102 h 168"/>
                  <a:gd name="T32" fmla="*/ 168 w 168"/>
                  <a:gd name="T33" fmla="*/ 26 h 168"/>
                  <a:gd name="T34" fmla="*/ 142 w 168"/>
                  <a:gd name="T35" fmla="*/ 0 h 168"/>
                  <a:gd name="T36" fmla="*/ 26 w 168"/>
                  <a:gd name="T37" fmla="*/ 0 h 168"/>
                  <a:gd name="T38" fmla="*/ 40 w 168"/>
                  <a:gd name="T39" fmla="*/ 24 h 168"/>
                  <a:gd name="T40" fmla="*/ 128 w 168"/>
                  <a:gd name="T41" fmla="*/ 24 h 168"/>
                  <a:gd name="T42" fmla="*/ 144 w 168"/>
                  <a:gd name="T43" fmla="*/ 40 h 168"/>
                  <a:gd name="T44" fmla="*/ 144 w 168"/>
                  <a:gd name="T45" fmla="*/ 88 h 168"/>
                  <a:gd name="T46" fmla="*/ 128 w 168"/>
                  <a:gd name="T47" fmla="*/ 104 h 168"/>
                  <a:gd name="T48" fmla="*/ 40 w 168"/>
                  <a:gd name="T49" fmla="*/ 104 h 168"/>
                  <a:gd name="T50" fmla="*/ 24 w 168"/>
                  <a:gd name="T51" fmla="*/ 88 h 168"/>
                  <a:gd name="T52" fmla="*/ 24 w 168"/>
                  <a:gd name="T53" fmla="*/ 40 h 168"/>
                  <a:gd name="T54" fmla="*/ 40 w 168"/>
                  <a:gd name="T55" fmla="*/ 24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68" h="168">
                    <a:moveTo>
                      <a:pt x="26" y="0"/>
                    </a:moveTo>
                    <a:cubicBezTo>
                      <a:pt x="12" y="0"/>
                      <a:pt x="0" y="12"/>
                      <a:pt x="0" y="26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16"/>
                      <a:pt x="12" y="128"/>
                      <a:pt x="26" y="128"/>
                    </a:cubicBezTo>
                    <a:cubicBezTo>
                      <a:pt x="64" y="128"/>
                      <a:pt x="64" y="128"/>
                      <a:pt x="64" y="128"/>
                    </a:cubicBezTo>
                    <a:cubicBezTo>
                      <a:pt x="64" y="152"/>
                      <a:pt x="64" y="152"/>
                      <a:pt x="64" y="152"/>
                    </a:cubicBezTo>
                    <a:cubicBezTo>
                      <a:pt x="52" y="152"/>
                      <a:pt x="52" y="152"/>
                      <a:pt x="52" y="152"/>
                    </a:cubicBezTo>
                    <a:cubicBezTo>
                      <a:pt x="48" y="152"/>
                      <a:pt x="44" y="156"/>
                      <a:pt x="44" y="160"/>
                    </a:cubicBezTo>
                    <a:cubicBezTo>
                      <a:pt x="44" y="164"/>
                      <a:pt x="48" y="168"/>
                      <a:pt x="52" y="168"/>
                    </a:cubicBezTo>
                    <a:cubicBezTo>
                      <a:pt x="116" y="168"/>
                      <a:pt x="116" y="168"/>
                      <a:pt x="116" y="168"/>
                    </a:cubicBezTo>
                    <a:cubicBezTo>
                      <a:pt x="120" y="168"/>
                      <a:pt x="124" y="164"/>
                      <a:pt x="124" y="160"/>
                    </a:cubicBezTo>
                    <a:cubicBezTo>
                      <a:pt x="124" y="156"/>
                      <a:pt x="120" y="152"/>
                      <a:pt x="116" y="152"/>
                    </a:cubicBezTo>
                    <a:cubicBezTo>
                      <a:pt x="104" y="152"/>
                      <a:pt x="104" y="152"/>
                      <a:pt x="104" y="152"/>
                    </a:cubicBezTo>
                    <a:cubicBezTo>
                      <a:pt x="104" y="128"/>
                      <a:pt x="104" y="128"/>
                      <a:pt x="104" y="128"/>
                    </a:cubicBezTo>
                    <a:cubicBezTo>
                      <a:pt x="142" y="128"/>
                      <a:pt x="142" y="128"/>
                      <a:pt x="142" y="128"/>
                    </a:cubicBezTo>
                    <a:cubicBezTo>
                      <a:pt x="156" y="128"/>
                      <a:pt x="168" y="116"/>
                      <a:pt x="168" y="102"/>
                    </a:cubicBezTo>
                    <a:cubicBezTo>
                      <a:pt x="168" y="26"/>
                      <a:pt x="168" y="26"/>
                      <a:pt x="168" y="26"/>
                    </a:cubicBezTo>
                    <a:cubicBezTo>
                      <a:pt x="168" y="12"/>
                      <a:pt x="156" y="0"/>
                      <a:pt x="142" y="0"/>
                    </a:cubicBezTo>
                    <a:lnTo>
                      <a:pt x="26" y="0"/>
                    </a:lnTo>
                    <a:close/>
                    <a:moveTo>
                      <a:pt x="40" y="24"/>
                    </a:moveTo>
                    <a:cubicBezTo>
                      <a:pt x="128" y="24"/>
                      <a:pt x="128" y="24"/>
                      <a:pt x="128" y="24"/>
                    </a:cubicBezTo>
                    <a:cubicBezTo>
                      <a:pt x="137" y="24"/>
                      <a:pt x="144" y="31"/>
                      <a:pt x="144" y="40"/>
                    </a:cubicBezTo>
                    <a:cubicBezTo>
                      <a:pt x="144" y="88"/>
                      <a:pt x="144" y="88"/>
                      <a:pt x="144" y="88"/>
                    </a:cubicBezTo>
                    <a:cubicBezTo>
                      <a:pt x="144" y="97"/>
                      <a:pt x="137" y="104"/>
                      <a:pt x="128" y="104"/>
                    </a:cubicBezTo>
                    <a:cubicBezTo>
                      <a:pt x="40" y="104"/>
                      <a:pt x="40" y="104"/>
                      <a:pt x="40" y="104"/>
                    </a:cubicBezTo>
                    <a:cubicBezTo>
                      <a:pt x="31" y="104"/>
                      <a:pt x="24" y="97"/>
                      <a:pt x="24" y="88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31"/>
                      <a:pt x="31" y="24"/>
                      <a:pt x="40" y="2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0" name="文本框 33"/>
            <p:cNvSpPr txBox="1"/>
            <p:nvPr/>
          </p:nvSpPr>
          <p:spPr>
            <a:xfrm>
              <a:off x="2250660" y="4685941"/>
              <a:ext cx="1005403" cy="338554"/>
            </a:xfrm>
            <a:prstGeom prst="rect">
              <a:avLst/>
            </a:prstGeom>
            <a:noFill/>
            <a:ln w="9525">
              <a:noFill/>
              <a:prstDash val="dash"/>
            </a:ln>
            <a:effectLst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项目由来</a:t>
              </a:r>
            </a:p>
          </p:txBody>
        </p:sp>
      </p:grpSp>
      <p:sp>
        <p:nvSpPr>
          <p:cNvPr id="33" name="虚尾箭头 32"/>
          <p:cNvSpPr/>
          <p:nvPr/>
        </p:nvSpPr>
        <p:spPr>
          <a:xfrm rot="5400000">
            <a:off x="8116461" y="3322500"/>
            <a:ext cx="723900" cy="822325"/>
          </a:xfrm>
          <a:prstGeom prst="stripedRightArrow">
            <a:avLst>
              <a:gd name="adj1" fmla="val 52812"/>
              <a:gd name="adj2" fmla="val 2563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7589" y="105583"/>
            <a:ext cx="10515600" cy="1325563"/>
          </a:xfrm>
          <a:effectLst/>
        </p:spPr>
        <p:txBody>
          <a:bodyPr>
            <a:norm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整体思路及目标</a:t>
            </a:r>
            <a:endParaRPr lang="zh-CN" altLang="en-US" sz="5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93437" y="553984"/>
            <a:ext cx="6278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一种基于</a:t>
            </a:r>
            <a:r>
              <a:rPr lang="en-US" altLang="zh-CN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Arduino</a:t>
            </a:r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的智能无叶风扇</a:t>
            </a:r>
            <a:endParaRPr lang="zh-CN" altLang="en-US" sz="3200" dirty="0">
              <a:solidFill>
                <a:schemeClr val="accent3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25600" y="305244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0" y="1162146"/>
            <a:ext cx="7065818" cy="0"/>
          </a:xfrm>
          <a:prstGeom prst="line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5D642BD-24E9-4E50-A2F0-2F9184634DB1}"/>
              </a:ext>
            </a:extLst>
          </p:cNvPr>
          <p:cNvSpPr txBox="1"/>
          <p:nvPr/>
        </p:nvSpPr>
        <p:spPr>
          <a:xfrm>
            <a:off x="446733" y="1587160"/>
            <a:ext cx="11745267" cy="421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</a:t>
            </a:r>
            <a:r>
              <a:rPr lang="en-US" altLang="zh-CN" sz="28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Arduino</a:t>
            </a:r>
            <a:r>
              <a:rPr lang="zh-CN" altLang="en-US" sz="28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和相关部件，结合</a:t>
            </a:r>
            <a:r>
              <a:rPr lang="en-US" altLang="zh-CN" sz="28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3D</a:t>
            </a:r>
            <a:r>
              <a:rPr lang="zh-CN" altLang="en-US" sz="28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打印，设计一款智能无叶风扇，实现：</a:t>
            </a:r>
            <a:endParaRPr lang="en-US" altLang="zh-CN" sz="28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28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br>
              <a:rPr lang="en-US" altLang="zh-CN" sz="28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可根据用户距离风扇远近改变出风量的无叶风扇</a:t>
            </a:r>
            <a:endParaRPr lang="en-US" altLang="zh-CN" sz="3200" dirty="0">
              <a:solidFill>
                <a:schemeClr val="accent2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智能识别用户是否已离开，离开则停止出风</a:t>
            </a:r>
            <a:endParaRPr lang="en-US" altLang="zh-CN" sz="3200" dirty="0">
              <a:solidFill>
                <a:schemeClr val="accent2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转动出风</a:t>
            </a:r>
            <a:endParaRPr lang="en-US" altLang="zh-CN" sz="3200" dirty="0">
              <a:solidFill>
                <a:schemeClr val="accent2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564106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7589" y="105583"/>
            <a:ext cx="10515600" cy="1325563"/>
          </a:xfrm>
          <a:effectLst/>
        </p:spPr>
        <p:txBody>
          <a:bodyPr>
            <a:norm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拟采取解决方案</a:t>
            </a:r>
            <a:endParaRPr lang="zh-CN" altLang="en-US" sz="5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93437" y="553984"/>
            <a:ext cx="6278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一种基于</a:t>
            </a:r>
            <a:r>
              <a:rPr lang="en-US" altLang="zh-CN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Arduino</a:t>
            </a:r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的智能无叶风扇</a:t>
            </a:r>
            <a:endParaRPr lang="zh-CN" altLang="en-US" sz="3200" dirty="0">
              <a:solidFill>
                <a:schemeClr val="accent3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25600" y="305244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0" y="1162146"/>
            <a:ext cx="7065818" cy="0"/>
          </a:xfrm>
          <a:prstGeom prst="line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0B84F68-9456-4561-B6A8-1F8F76D05FF3}"/>
              </a:ext>
            </a:extLst>
          </p:cNvPr>
          <p:cNvSpPr txBox="1"/>
          <p:nvPr/>
        </p:nvSpPr>
        <p:spPr>
          <a:xfrm>
            <a:off x="446733" y="1579768"/>
            <a:ext cx="1147979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普通模式：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恒定速度出风，不对风量进行自动控制</a:t>
            </a:r>
            <a:endParaRPr lang="en-US" altLang="zh-CN" sz="28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28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智能模式：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通过超声波传感器来识别风扇与用户的距离，通过模拟输出来控制风扇转速，若距离变近则减小风力输出，反之则增大输出。若用户离开，则停止出风直到用户重新回到风扇前。</a:t>
            </a:r>
            <a:endParaRPr lang="en-US" altLang="zh-CN" sz="28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28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转动功能：</a:t>
            </a:r>
            <a:endParaRPr lang="en-US" altLang="zh-CN" sz="2800" dirty="0">
              <a:solidFill>
                <a:schemeClr val="accent2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使用舵机进行恒速来回转动（结合结构设计）</a:t>
            </a:r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1992812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7589" y="105583"/>
            <a:ext cx="10515600" cy="1325563"/>
          </a:xfrm>
          <a:effectLst/>
        </p:spPr>
        <p:txBody>
          <a:bodyPr>
            <a:norm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拟采取解决方案</a:t>
            </a:r>
            <a:endParaRPr lang="zh-CN" altLang="en-US" sz="5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93437" y="553984"/>
            <a:ext cx="6278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一种基于</a:t>
            </a:r>
            <a:r>
              <a:rPr lang="en-US" altLang="zh-CN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Arduino</a:t>
            </a:r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的智能无叶风扇</a:t>
            </a:r>
            <a:endParaRPr lang="zh-CN" altLang="en-US" sz="3200" dirty="0">
              <a:solidFill>
                <a:schemeClr val="accent3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25600" y="305244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0" y="1162146"/>
            <a:ext cx="7065818" cy="0"/>
          </a:xfrm>
          <a:prstGeom prst="line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0B84F68-9456-4561-B6A8-1F8F76D05FF3}"/>
              </a:ext>
            </a:extLst>
          </p:cNvPr>
          <p:cNvSpPr txBox="1"/>
          <p:nvPr/>
        </p:nvSpPr>
        <p:spPr>
          <a:xfrm>
            <a:off x="446733" y="1579768"/>
            <a:ext cx="683897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3D</a:t>
            </a:r>
            <a:r>
              <a:rPr lang="zh-CN" alt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结构：</a:t>
            </a:r>
            <a:endParaRPr lang="en-US" altLang="zh-CN" sz="3200" dirty="0">
              <a:solidFill>
                <a:schemeClr val="accent2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3200" dirty="0">
              <a:solidFill>
                <a:schemeClr val="accent2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分为上下两部分，中间由连接件</a:t>
            </a:r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内含舵机</a:t>
            </a:r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相连，风扇与传感器固定于上半部分，</a:t>
            </a:r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Arduino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与相关电路放置于下半部分。普通</a:t>
            </a:r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智能模式切换按钮、转动功能按钮、模式提示灯、传感器均放于下半部分。上半部分</a:t>
            </a:r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C7AE17-C0A0-4ED5-96B4-258145865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060" y="1162146"/>
            <a:ext cx="3252372" cy="561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22756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7589" y="105583"/>
            <a:ext cx="10515600" cy="1325563"/>
          </a:xfrm>
          <a:effectLst/>
        </p:spPr>
        <p:txBody>
          <a:bodyPr>
            <a:norm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技术需求及创新</a:t>
            </a:r>
            <a:endParaRPr lang="zh-CN" altLang="en-US" sz="5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93437" y="553984"/>
            <a:ext cx="6278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一种基于</a:t>
            </a:r>
            <a:r>
              <a:rPr lang="en-US" altLang="zh-CN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Arduino</a:t>
            </a:r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的智能无叶风扇</a:t>
            </a:r>
            <a:endParaRPr lang="zh-CN" altLang="en-US" sz="3200" dirty="0">
              <a:solidFill>
                <a:schemeClr val="accent3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25600" y="305244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0" y="1162146"/>
            <a:ext cx="7065818" cy="0"/>
          </a:xfrm>
          <a:prstGeom prst="line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DBF3F5E-9F8B-447F-A3B3-B402EC8DF360}"/>
              </a:ext>
            </a:extLst>
          </p:cNvPr>
          <p:cNvSpPr txBox="1"/>
          <p:nvPr/>
        </p:nvSpPr>
        <p:spPr>
          <a:xfrm>
            <a:off x="446733" y="1322990"/>
            <a:ext cx="1147979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算法层面：</a:t>
            </a:r>
            <a:endParaRPr lang="en-US" altLang="zh-CN" sz="3200" dirty="0">
              <a:solidFill>
                <a:schemeClr val="accent2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需要拟合用户距离与输出风量的最佳对应关系，从而获得最好的吹风体验</a:t>
            </a:r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用户是否离开的判断算法</a:t>
            </a:r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硬件层面：</a:t>
            </a:r>
            <a:endParaRPr lang="en-US" altLang="zh-CN" sz="3200" dirty="0">
              <a:solidFill>
                <a:schemeClr val="accent2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对整体结构进行</a:t>
            </a:r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3D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建模、打印，使上下部分能通过连接件中舵机的控制进行转动</a:t>
            </a:r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2.Arduino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及风扇的供电设计、布线设计</a:t>
            </a:r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创新点：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人性化、智能化、美观、安全</a:t>
            </a:r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2674858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7589" y="105583"/>
            <a:ext cx="10515600" cy="1325563"/>
          </a:xfrm>
          <a:effectLst/>
        </p:spPr>
        <p:txBody>
          <a:bodyPr>
            <a:norm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可行性分析</a:t>
            </a:r>
            <a:endParaRPr lang="zh-CN" altLang="en-US" sz="5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13567" y="553984"/>
            <a:ext cx="6278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一种基于</a:t>
            </a:r>
            <a:r>
              <a:rPr lang="en-US" altLang="zh-CN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Arduino</a:t>
            </a:r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的智能无叶风扇</a:t>
            </a:r>
            <a:endParaRPr lang="zh-CN" altLang="en-US" sz="3200" dirty="0">
              <a:solidFill>
                <a:schemeClr val="accent3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25600" y="305244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0" y="1162146"/>
            <a:ext cx="7065818" cy="0"/>
          </a:xfrm>
          <a:prstGeom prst="line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649DDF3-8206-478E-9357-24007CF879DD}"/>
              </a:ext>
            </a:extLst>
          </p:cNvPr>
          <p:cNvSpPr txBox="1"/>
          <p:nvPr/>
        </p:nvSpPr>
        <p:spPr>
          <a:xfrm>
            <a:off x="446733" y="1579768"/>
            <a:ext cx="1147979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4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硬件及开发：</a:t>
            </a:r>
            <a:endParaRPr lang="en-US" altLang="zh-CN" sz="3200" dirty="0">
              <a:solidFill>
                <a:schemeClr val="accent4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Arduino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开发板、</a:t>
            </a:r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5V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直流风扇、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HC-SR04超声波传感器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、舵机</a:t>
            </a:r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3200" dirty="0">
                <a:solidFill>
                  <a:schemeClr val="accent4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3D</a:t>
            </a:r>
            <a:r>
              <a:rPr lang="zh-CN" altLang="en-US" sz="3200" dirty="0">
                <a:solidFill>
                  <a:schemeClr val="accent4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设计：</a:t>
            </a:r>
            <a:endParaRPr lang="en-US" altLang="zh-CN" sz="3200" dirty="0">
              <a:solidFill>
                <a:schemeClr val="accent4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3200" dirty="0" err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Solidworks</a:t>
            </a:r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3200" dirty="0">
                <a:solidFill>
                  <a:schemeClr val="accent4">
                    <a:lumMod val="20000"/>
                    <a:lumOff val="8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成品实现：</a:t>
            </a:r>
            <a:endParaRPr lang="en-US" altLang="zh-CN" sz="3200" dirty="0">
              <a:solidFill>
                <a:schemeClr val="accent4">
                  <a:lumMod val="20000"/>
                  <a:lumOff val="80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3D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打印，木板，硬卡纸</a:t>
            </a:r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0206040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7589" y="105583"/>
            <a:ext cx="10515600" cy="1325563"/>
          </a:xfrm>
          <a:effectLst/>
        </p:spPr>
        <p:txBody>
          <a:bodyPr>
            <a:norm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预期效果</a:t>
            </a:r>
            <a:endParaRPr lang="zh-CN" altLang="en-US" sz="5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13567" y="553984"/>
            <a:ext cx="6278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一种基于</a:t>
            </a:r>
            <a:r>
              <a:rPr lang="en-US" altLang="zh-CN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Arduino</a:t>
            </a:r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的智能无叶风扇</a:t>
            </a:r>
            <a:endParaRPr lang="zh-CN" altLang="en-US" sz="3200" dirty="0">
              <a:solidFill>
                <a:schemeClr val="accent3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25600" y="305244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0" y="1162146"/>
            <a:ext cx="7065818" cy="0"/>
          </a:xfrm>
          <a:prstGeom prst="line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8D2AA11-E5CE-4D5D-8053-79A8DC60844A}"/>
              </a:ext>
            </a:extLst>
          </p:cNvPr>
          <p:cNvSpPr txBox="1"/>
          <p:nvPr/>
        </p:nvSpPr>
        <p:spPr>
          <a:xfrm>
            <a:off x="436901" y="2195322"/>
            <a:ext cx="114797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户将本产品放置于办公桌面，可根据与用户的距离自动适配合适、舒适的出风量，在用户暂时离开时能暂停吹风，用户回来时能以先前的设置继续吹风。当用户选择旋转功能时，无叶风扇可左右摆动旋转吹风。用户可以通过按钮切换风扇工作模式（普通</a:t>
            </a:r>
            <a:r>
              <a:rPr lang="en-US" altLang="zh-CN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lang="zh-CN" altLang="en-US" sz="32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智能），并且可以得到指示灯的反馈。</a:t>
            </a:r>
            <a:endParaRPr lang="en-US" altLang="zh-CN" sz="32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0962746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7589" y="105583"/>
            <a:ext cx="10515600" cy="1325563"/>
          </a:xfrm>
          <a:effectLst/>
        </p:spPr>
        <p:txBody>
          <a:bodyPr>
            <a:normAutofit/>
          </a:bodyPr>
          <a:lstStyle/>
          <a:p>
            <a:pPr algn="l">
              <a:buClrTx/>
              <a:buSzTx/>
              <a:buFontTx/>
            </a:pPr>
            <a:r>
              <a:rPr lang="zh-CN" altLang="en-US" sz="54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时间分配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1171036"/>
            <a:ext cx="7065818" cy="0"/>
          </a:xfrm>
          <a:prstGeom prst="line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59" idx="2"/>
            <a:endCxn id="73" idx="0"/>
          </p:cNvCxnSpPr>
          <p:nvPr/>
        </p:nvCxnSpPr>
        <p:spPr>
          <a:xfrm flipH="1">
            <a:off x="4559668" y="2756198"/>
            <a:ext cx="902" cy="74037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79" idx="4"/>
            <a:endCxn id="60" idx="0"/>
          </p:cNvCxnSpPr>
          <p:nvPr/>
        </p:nvCxnSpPr>
        <p:spPr>
          <a:xfrm flipH="1">
            <a:off x="7425863" y="3777609"/>
            <a:ext cx="636" cy="913902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3270885" y="1740535"/>
            <a:ext cx="257937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完成结构设计，打印，固定，组装等操作，开始初步程序设计。</a:t>
            </a:r>
          </a:p>
        </p:txBody>
      </p:sp>
      <p:sp>
        <p:nvSpPr>
          <p:cNvPr id="60" name="矩形 59"/>
          <p:cNvSpPr/>
          <p:nvPr/>
        </p:nvSpPr>
        <p:spPr>
          <a:xfrm>
            <a:off x="6277701" y="4691511"/>
            <a:ext cx="22963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完成程序设计，进行功能验证，完善其他辅助功能。</a:t>
            </a:r>
          </a:p>
        </p:txBody>
      </p:sp>
      <p:sp>
        <p:nvSpPr>
          <p:cNvPr id="61" name="文本框 4"/>
          <p:cNvSpPr txBox="1"/>
          <p:nvPr/>
        </p:nvSpPr>
        <p:spPr>
          <a:xfrm>
            <a:off x="1171045" y="6014420"/>
            <a:ext cx="737413" cy="30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第一周</a:t>
            </a:r>
          </a:p>
        </p:txBody>
      </p:sp>
      <p:sp>
        <p:nvSpPr>
          <p:cNvPr id="62" name="文本框 10"/>
          <p:cNvSpPr txBox="1"/>
          <p:nvPr/>
        </p:nvSpPr>
        <p:spPr>
          <a:xfrm>
            <a:off x="4186666" y="1281555"/>
            <a:ext cx="745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第二周</a:t>
            </a:r>
          </a:p>
        </p:txBody>
      </p:sp>
      <p:sp>
        <p:nvSpPr>
          <p:cNvPr id="63" name="矩形 62"/>
          <p:cNvSpPr/>
          <p:nvPr/>
        </p:nvSpPr>
        <p:spPr>
          <a:xfrm>
            <a:off x="406934" y="4626616"/>
            <a:ext cx="2270782" cy="1291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确定整体框架，初步确定实现方案，购买所需组件。</a:t>
            </a:r>
          </a:p>
        </p:txBody>
      </p:sp>
      <p:sp>
        <p:nvSpPr>
          <p:cNvPr id="64" name="文本框 10"/>
          <p:cNvSpPr txBox="1"/>
          <p:nvPr/>
        </p:nvSpPr>
        <p:spPr>
          <a:xfrm>
            <a:off x="7029231" y="6014953"/>
            <a:ext cx="793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第三周 </a:t>
            </a:r>
          </a:p>
        </p:txBody>
      </p:sp>
      <p:sp>
        <p:nvSpPr>
          <p:cNvPr id="65" name="TextBox 23"/>
          <p:cNvSpPr txBox="1"/>
          <p:nvPr/>
        </p:nvSpPr>
        <p:spPr>
          <a:xfrm>
            <a:off x="9040296" y="1369191"/>
            <a:ext cx="2506619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上传代码后，测试该项目。项目正常运行后，美化外壳。</a:t>
            </a:r>
          </a:p>
        </p:txBody>
      </p:sp>
      <p:cxnSp>
        <p:nvCxnSpPr>
          <p:cNvPr id="66" name="直接连接符 65"/>
          <p:cNvCxnSpPr/>
          <p:nvPr/>
        </p:nvCxnSpPr>
        <p:spPr>
          <a:xfrm flipV="1">
            <a:off x="10292971" y="2786645"/>
            <a:ext cx="0" cy="678447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endCxn id="63" idx="0"/>
          </p:cNvCxnSpPr>
          <p:nvPr/>
        </p:nvCxnSpPr>
        <p:spPr>
          <a:xfrm>
            <a:off x="1537212" y="3862625"/>
            <a:ext cx="5113" cy="763991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10"/>
          <p:cNvSpPr txBox="1"/>
          <p:nvPr/>
        </p:nvSpPr>
        <p:spPr>
          <a:xfrm>
            <a:off x="9512300" y="1116330"/>
            <a:ext cx="15614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第四周、第五周</a:t>
            </a:r>
          </a:p>
        </p:txBody>
      </p:sp>
      <p:cxnSp>
        <p:nvCxnSpPr>
          <p:cNvPr id="81" name="直接连接符 80"/>
          <p:cNvCxnSpPr/>
          <p:nvPr/>
        </p:nvCxnSpPr>
        <p:spPr>
          <a:xfrm>
            <a:off x="0" y="1162146"/>
            <a:ext cx="3685309" cy="0"/>
          </a:xfrm>
          <a:prstGeom prst="line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140970" y="3637134"/>
            <a:ext cx="12192000" cy="0"/>
          </a:xfrm>
          <a:prstGeom prst="line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/>
        </p:nvGrpSpPr>
        <p:grpSpPr>
          <a:xfrm>
            <a:off x="1398954" y="3496293"/>
            <a:ext cx="281354" cy="281354"/>
            <a:chOff x="1369109" y="2721875"/>
            <a:chExt cx="281354" cy="281354"/>
          </a:xfrm>
        </p:grpSpPr>
        <p:sp>
          <p:nvSpPr>
            <p:cNvPr id="84" name="椭圆 83"/>
            <p:cNvSpPr/>
            <p:nvPr/>
          </p:nvSpPr>
          <p:spPr>
            <a:xfrm>
              <a:off x="1369109" y="2721875"/>
              <a:ext cx="281354" cy="281354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400">
                <a:solidFill>
                  <a:srgbClr val="806D3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1437786" y="2790552"/>
              <a:ext cx="144000" cy="144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4419245" y="3496255"/>
            <a:ext cx="281354" cy="281354"/>
            <a:chOff x="1369109" y="2721875"/>
            <a:chExt cx="281354" cy="281354"/>
          </a:xfrm>
        </p:grpSpPr>
        <p:sp>
          <p:nvSpPr>
            <p:cNvPr id="87" name="椭圆 86"/>
            <p:cNvSpPr/>
            <p:nvPr/>
          </p:nvSpPr>
          <p:spPr>
            <a:xfrm>
              <a:off x="1369109" y="2721875"/>
              <a:ext cx="281354" cy="281354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400">
                <a:solidFill>
                  <a:srgbClr val="806D3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椭圆 87"/>
            <p:cNvSpPr/>
            <p:nvPr/>
          </p:nvSpPr>
          <p:spPr>
            <a:xfrm>
              <a:off x="1437786" y="2790552"/>
              <a:ext cx="144000" cy="144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7285186" y="3496255"/>
            <a:ext cx="281354" cy="281354"/>
            <a:chOff x="1369109" y="2721875"/>
            <a:chExt cx="281354" cy="281354"/>
          </a:xfrm>
        </p:grpSpPr>
        <p:sp>
          <p:nvSpPr>
            <p:cNvPr id="90" name="椭圆 89"/>
            <p:cNvSpPr/>
            <p:nvPr/>
          </p:nvSpPr>
          <p:spPr>
            <a:xfrm>
              <a:off x="1369109" y="2721875"/>
              <a:ext cx="281354" cy="281354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400">
                <a:solidFill>
                  <a:srgbClr val="806D3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椭圆 90"/>
            <p:cNvSpPr/>
            <p:nvPr/>
          </p:nvSpPr>
          <p:spPr>
            <a:xfrm>
              <a:off x="1437786" y="2790552"/>
              <a:ext cx="144000" cy="144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10152294" y="3491175"/>
            <a:ext cx="281354" cy="281354"/>
            <a:chOff x="1369109" y="2721875"/>
            <a:chExt cx="281354" cy="281354"/>
          </a:xfrm>
        </p:grpSpPr>
        <p:sp>
          <p:nvSpPr>
            <p:cNvPr id="93" name="椭圆 92"/>
            <p:cNvSpPr/>
            <p:nvPr/>
          </p:nvSpPr>
          <p:spPr>
            <a:xfrm>
              <a:off x="1369109" y="2721875"/>
              <a:ext cx="281354" cy="281354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400">
                <a:solidFill>
                  <a:srgbClr val="806D3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椭圆 93"/>
            <p:cNvSpPr/>
            <p:nvPr/>
          </p:nvSpPr>
          <p:spPr>
            <a:xfrm>
              <a:off x="1437786" y="2790552"/>
              <a:ext cx="144000" cy="144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5B6F5A52-0B9D-42C1-B2AC-CE467D7E0EDD}"/>
              </a:ext>
            </a:extLst>
          </p:cNvPr>
          <p:cNvSpPr txBox="1"/>
          <p:nvPr/>
        </p:nvSpPr>
        <p:spPr>
          <a:xfrm>
            <a:off x="4113567" y="553984"/>
            <a:ext cx="6278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一种基于</a:t>
            </a:r>
            <a:r>
              <a:rPr lang="en-US" altLang="zh-CN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Arduino</a:t>
            </a:r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的智能无叶风扇</a:t>
            </a:r>
            <a:endParaRPr lang="zh-CN" altLang="en-US" sz="3200" dirty="0">
              <a:solidFill>
                <a:schemeClr val="accent3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0" y="1162146"/>
            <a:ext cx="8227389" cy="0"/>
          </a:xfrm>
          <a:prstGeom prst="line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1">
            <a:extLst>
              <a:ext uri="{FF2B5EF4-FFF2-40B4-BE49-F238E27FC236}">
                <a16:creationId xmlns:a16="http://schemas.microsoft.com/office/drawing/2014/main" id="{E42EA9FF-8CE1-4C3C-90BA-E69E0F04A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880" y="151765"/>
            <a:ext cx="10515600" cy="1325563"/>
          </a:xfrm>
          <a:effectLst/>
        </p:spPr>
        <p:txBody>
          <a:bodyPr>
            <a:norm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经费预算</a:t>
            </a:r>
            <a:endParaRPr lang="zh-CN" altLang="en-US" sz="54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9CA85D-38D4-493E-908D-F2DA6CA27597}"/>
              </a:ext>
            </a:extLst>
          </p:cNvPr>
          <p:cNvSpPr txBox="1"/>
          <p:nvPr/>
        </p:nvSpPr>
        <p:spPr>
          <a:xfrm>
            <a:off x="4113567" y="553984"/>
            <a:ext cx="6278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一种基于</a:t>
            </a:r>
            <a:r>
              <a:rPr lang="en-US" altLang="zh-CN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Arduino</a:t>
            </a:r>
            <a:r>
              <a:rPr lang="zh-CN" altLang="en-US" sz="32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的智能无叶风扇</a:t>
            </a:r>
            <a:endParaRPr lang="zh-CN" altLang="en-US" sz="3200" dirty="0">
              <a:solidFill>
                <a:schemeClr val="accent3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FAAC662-CD2C-480E-B355-49D480061BF4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13571"/>
              </p:ext>
            </p:extLst>
          </p:nvPr>
        </p:nvGraphicFramePr>
        <p:xfrm>
          <a:off x="1056640" y="2155560"/>
          <a:ext cx="10010775" cy="307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2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2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材料名称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单价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总价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Arduino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超声波传感器（HC-SR04）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5V</a:t>
                      </a:r>
                      <a:r>
                        <a:rPr lang="zh-CN" altLang="en-US" dirty="0"/>
                        <a:t>直流风扇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664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3D</a:t>
                      </a:r>
                      <a:r>
                        <a:rPr lang="zh-CN" altLang="en-US" dirty="0"/>
                        <a:t>打印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9049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舵机（</a:t>
                      </a:r>
                      <a:r>
                        <a:rPr lang="en-US" altLang="zh-CN" dirty="0"/>
                        <a:t>MG996R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432989"/>
                  </a:ext>
                </a:extLst>
              </a:tr>
              <a:tr h="5168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木板、硬卡纸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97941"/>
                  </a:ext>
                </a:extLst>
              </a:tr>
              <a:tr h="1658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753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986257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3295" y="4392716"/>
            <a:ext cx="3588040" cy="2426076"/>
          </a:xfrm>
          <a:effectLst/>
        </p:spPr>
        <p:txBody>
          <a:bodyPr>
            <a:noAutofit/>
          </a:bodyPr>
          <a:lstStyle/>
          <a:p>
            <a:r>
              <a:rPr lang="zh-CN" altLang="en-US" sz="11500" b="1" dirty="0">
                <a:solidFill>
                  <a:schemeClr val="bg1"/>
                </a:solidFill>
                <a:latin typeface="微软雅黑 Light" panose="020B0502040204020203" charset="-122"/>
                <a:ea typeface="微软雅黑 Light" panose="020B0502040204020203" charset="-122"/>
              </a:rPr>
              <a:t>谢谢</a:t>
            </a:r>
            <a:endParaRPr lang="zh-CN" altLang="en-US" sz="115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25600" y="305244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cxnSp>
        <p:nvCxnSpPr>
          <p:cNvPr id="8" name="直接连接符 3"/>
          <p:cNvCxnSpPr/>
          <p:nvPr/>
        </p:nvCxnSpPr>
        <p:spPr>
          <a:xfrm>
            <a:off x="11799528" y="4353874"/>
            <a:ext cx="0" cy="2243831"/>
          </a:xfrm>
          <a:prstGeom prst="line">
            <a:avLst/>
          </a:prstGeom>
          <a:ln w="4762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标题 1"/>
          <p:cNvSpPr txBox="1"/>
          <p:nvPr/>
        </p:nvSpPr>
        <p:spPr>
          <a:xfrm>
            <a:off x="5520906" y="4107672"/>
            <a:ext cx="3609440" cy="67314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CN" altLang="en-US" sz="36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a4aaa0f-899a-4390-a033-929346d15304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642</Words>
  <Application>Microsoft Office PowerPoint</Application>
  <PresentationFormat>宽屏</PresentationFormat>
  <Paragraphs>103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Microsoft YaHei UI</vt:lpstr>
      <vt:lpstr>等线 Light</vt:lpstr>
      <vt:lpstr>微软雅黑</vt:lpstr>
      <vt:lpstr>微软雅黑 Light</vt:lpstr>
      <vt:lpstr>Arial</vt:lpstr>
      <vt:lpstr>Calibri</vt:lpstr>
      <vt:lpstr>Calibri Light</vt:lpstr>
      <vt:lpstr>Office 主题</vt:lpstr>
      <vt:lpstr>PowerPoint 演示文稿</vt:lpstr>
      <vt:lpstr>项目由来</vt:lpstr>
      <vt:lpstr>整体思路及目标</vt:lpstr>
      <vt:lpstr>拟采取解决方案</vt:lpstr>
      <vt:lpstr>拟采取解决方案</vt:lpstr>
      <vt:lpstr>技术需求及创新</vt:lpstr>
      <vt:lpstr>可行性分析</vt:lpstr>
      <vt:lpstr>预期效果</vt:lpstr>
      <vt:lpstr>时间分配</vt:lpstr>
      <vt:lpstr>经费预算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mattlee</dc:creator>
  <cp:lastModifiedBy>刘 涵之</cp:lastModifiedBy>
  <cp:revision>102</cp:revision>
  <dcterms:created xsi:type="dcterms:W3CDTF">1900-01-01T00:00:00Z</dcterms:created>
  <dcterms:modified xsi:type="dcterms:W3CDTF">2020-07-14T15:02:03Z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