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6.jpg" ContentType="image/pn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332" r:id="rId2"/>
    <p:sldId id="355" r:id="rId3"/>
    <p:sldId id="272" r:id="rId4"/>
    <p:sldId id="356" r:id="rId5"/>
    <p:sldId id="345" r:id="rId6"/>
    <p:sldId id="352" r:id="rId7"/>
    <p:sldId id="354" r:id="rId8"/>
    <p:sldId id="343" r:id="rId9"/>
    <p:sldId id="357" r:id="rId10"/>
    <p:sldId id="358" r:id="rId11"/>
    <p:sldId id="347" r:id="rId12"/>
    <p:sldId id="359" r:id="rId13"/>
    <p:sldId id="350" r:id="rId14"/>
    <p:sldId id="351" r:id="rId15"/>
    <p:sldId id="341" r:id="rId16"/>
    <p:sldId id="346" r:id="rId17"/>
    <p:sldId id="276" r:id="rId18"/>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3244"/>
    <a:srgbClr val="D8DCDF"/>
    <a:srgbClr val="A9B3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667" autoAdjust="0"/>
  </p:normalViewPr>
  <p:slideViewPr>
    <p:cSldViewPr snapToGrid="0">
      <p:cViewPr varScale="1">
        <p:scale>
          <a:sx n="78" d="100"/>
          <a:sy n="78" d="100"/>
        </p:scale>
        <p:origin x="835" y="67"/>
      </p:cViewPr>
      <p:guideLst>
        <p:guide orient="horz" pos="215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2020/7/14</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672760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31795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506154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972325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7259052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554796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986648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328948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solidFill>
                  <a:schemeClr val="bg1"/>
                </a:solidFill>
                <a:latin typeface="等线 Light" panose="02010600030101010101" charset="-122"/>
                <a:ea typeface="等线 Light" panose="02010600030101010101" charset="-122"/>
              </a:defRPr>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等线 Light" panose="02010600030101010101" charset="-122"/>
                <a:ea typeface="等线 Light" panose="0201060003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solidFill>
                  <a:schemeClr val="bg1"/>
                </a:solidFill>
                <a:latin typeface="等线 Light" panose="02010600030101010101" charset="-122"/>
                <a:ea typeface="等线 Light" panose="02010600030101010101" charset="-122"/>
              </a:defRPr>
            </a:lvl1pPr>
          </a:lstStyle>
          <a:p>
            <a:fld id="{82F288E0-7875-42C4-84C8-98DBBD3BF4D2}" type="datetimeFigureOut">
              <a:rPr lang="zh-CN" altLang="en-US" smtClean="0"/>
              <a:t>2020/7/14</a:t>
            </a:fld>
            <a:endParaRPr lang="zh-CN" altLang="en-US"/>
          </a:p>
        </p:txBody>
      </p:sp>
      <p:sp>
        <p:nvSpPr>
          <p:cNvPr id="5" name="页脚占位符 4"/>
          <p:cNvSpPr>
            <a:spLocks noGrp="1"/>
          </p:cNvSpPr>
          <p:nvPr>
            <p:ph type="ftr" sz="quarter" idx="11"/>
          </p:nvPr>
        </p:nvSpPr>
        <p:spPr/>
        <p:txBody>
          <a:bodyPr/>
          <a:lstStyle>
            <a:lvl1pPr>
              <a:defRPr>
                <a:solidFill>
                  <a:schemeClr val="bg1"/>
                </a:solidFill>
                <a:latin typeface="等线 Light" panose="02010600030101010101" charset="-122"/>
                <a:ea typeface="等线 Light" panose="02010600030101010101"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等线 Light" panose="02010600030101010101" charset="-122"/>
                <a:ea typeface="等线 Light" panose="02010600030101010101" charset="-122"/>
              </a:defRPr>
            </a:lvl1p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2020/7/14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2020/7/14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f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timg"/>
          <p:cNvPicPr>
            <a:picLocks noChangeAspect="1"/>
          </p:cNvPicPr>
          <p:nvPr userDrawn="1"/>
        </p:nvPicPr>
        <p:blipFill>
          <a:blip r:embed="rId2"/>
          <a:srcRect l="50643" r="12081"/>
          <a:stretch>
            <a:fillRect/>
          </a:stretch>
        </p:blipFill>
        <p:spPr>
          <a:xfrm>
            <a:off x="9716770" y="2045335"/>
            <a:ext cx="1904365" cy="3193415"/>
          </a:xfrm>
          <a:prstGeom prst="rect">
            <a:avLst/>
          </a:prstGeom>
        </p:spPr>
      </p:pic>
      <p:cxnSp>
        <p:nvCxnSpPr>
          <p:cNvPr id="4" name="直接连接符 3"/>
          <p:cNvCxnSpPr/>
          <p:nvPr/>
        </p:nvCxnSpPr>
        <p:spPr>
          <a:xfrm>
            <a:off x="9121140" y="1428750"/>
            <a:ext cx="0" cy="3999230"/>
          </a:xfrm>
          <a:prstGeom prst="line">
            <a:avLst/>
          </a:prstGeom>
          <a:ln w="47625"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559635" y="2435593"/>
            <a:ext cx="8426409" cy="992772"/>
          </a:xfrm>
          <a:prstGeom prst="rect">
            <a:avLst/>
          </a:prstGeom>
          <a:noFill/>
        </p:spPr>
        <p:txBody>
          <a:bodyPr wrap="none" rtlCol="0">
            <a:spAutoFit/>
          </a:bodyPr>
          <a:lstStyle/>
          <a:p>
            <a:pPr algn="r" fontAlgn="auto">
              <a:lnSpc>
                <a:spcPct val="150000"/>
              </a:lnSpc>
            </a:pPr>
            <a:r>
              <a:rPr lang="zh-CN" altLang="en-US" sz="4400" b="1" dirty="0">
                <a:solidFill>
                  <a:schemeClr val="bg1"/>
                </a:solidFill>
                <a:latin typeface="微软雅黑 Light" panose="020B0502040204020203" charset="-122"/>
                <a:ea typeface="微软雅黑 Light" panose="020B0502040204020203" charset="-122"/>
              </a:rPr>
              <a:t>一种基于</a:t>
            </a:r>
            <a:r>
              <a:rPr lang="en-US" altLang="zh-CN" sz="4400" b="1" dirty="0">
                <a:solidFill>
                  <a:schemeClr val="bg1"/>
                </a:solidFill>
                <a:latin typeface="微软雅黑 Light" panose="020B0502040204020203" charset="-122"/>
                <a:ea typeface="微软雅黑 Light" panose="020B0502040204020203" charset="-122"/>
              </a:rPr>
              <a:t>Arduino</a:t>
            </a:r>
            <a:r>
              <a:rPr lang="zh-CN" altLang="en-US" sz="4400" b="1" dirty="0">
                <a:solidFill>
                  <a:schemeClr val="bg1"/>
                </a:solidFill>
                <a:latin typeface="微软雅黑 Light" panose="020B0502040204020203" charset="-122"/>
                <a:ea typeface="微软雅黑 Light" panose="020B0502040204020203" charset="-122"/>
              </a:rPr>
              <a:t>的智能无叶风扇</a:t>
            </a:r>
          </a:p>
        </p:txBody>
      </p:sp>
      <p:sp>
        <p:nvSpPr>
          <p:cNvPr id="7" name="文本框 6"/>
          <p:cNvSpPr txBox="1"/>
          <p:nvPr/>
        </p:nvSpPr>
        <p:spPr>
          <a:xfrm>
            <a:off x="6954719" y="4253912"/>
            <a:ext cx="2031325" cy="461665"/>
          </a:xfrm>
          <a:prstGeom prst="rect">
            <a:avLst/>
          </a:prstGeom>
          <a:noFill/>
        </p:spPr>
        <p:txBody>
          <a:bodyPr wrap="none" rtlCol="0">
            <a:spAutoFit/>
          </a:bodyPr>
          <a:lstStyle/>
          <a:p>
            <a:pPr algn="r"/>
            <a:r>
              <a:rPr lang="zh-CN" altLang="en-US" sz="2400" dirty="0">
                <a:solidFill>
                  <a:schemeClr val="bg1"/>
                </a:solidFill>
                <a:latin typeface="微软雅黑 Light" panose="020B0502040204020203" charset="-122"/>
                <a:ea typeface="微软雅黑 Light" panose="020B0502040204020203" charset="-122"/>
              </a:rPr>
              <a:t>上海</a:t>
            </a:r>
            <a:r>
              <a:rPr lang="zh-CN" altLang="en-US" sz="2400">
                <a:solidFill>
                  <a:schemeClr val="bg1"/>
                </a:solidFill>
                <a:latin typeface="微软雅黑 Light" panose="020B0502040204020203" charset="-122"/>
                <a:ea typeface="微软雅黑 Light" panose="020B0502040204020203" charset="-122"/>
              </a:rPr>
              <a:t>交通大学</a:t>
            </a:r>
            <a:endParaRPr lang="zh-CN" altLang="en-US" sz="2400" dirty="0">
              <a:solidFill>
                <a:schemeClr val="bg1"/>
              </a:solidFill>
              <a:latin typeface="微软雅黑 Light" panose="020B0502040204020203" charset="-122"/>
              <a:ea typeface="微软雅黑 Light" panose="020B0502040204020203"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2C83C50-308C-4B8C-82D7-3BA94B1ACB15}"/>
              </a:ext>
            </a:extLst>
          </p:cNvPr>
          <p:cNvSpPr>
            <a:spLocks noGrp="1"/>
          </p:cNvSpPr>
          <p:nvPr>
            <p:ph idx="1"/>
          </p:nvPr>
        </p:nvSpPr>
        <p:spPr>
          <a:xfrm>
            <a:off x="827096" y="437062"/>
            <a:ext cx="10556019" cy="4351338"/>
          </a:xfrm>
        </p:spPr>
        <p:txBody>
          <a:bodyPr/>
          <a:lstStyle/>
          <a:p>
            <a:r>
              <a:rPr lang="zh-CN" altLang="zh-CN" dirty="0">
                <a:solidFill>
                  <a:schemeClr val="bg1"/>
                </a:solidFill>
              </a:rPr>
              <a:t>电风扇是几乎每家每户都必不可少的电器产品之一。</a:t>
            </a:r>
            <a:endParaRPr lang="en-US" altLang="zh-CN" dirty="0">
              <a:solidFill>
                <a:schemeClr val="bg1"/>
              </a:solidFill>
            </a:endParaRPr>
          </a:p>
          <a:p>
            <a:r>
              <a:rPr lang="zh-CN" altLang="zh-CN" dirty="0">
                <a:solidFill>
                  <a:schemeClr val="bg1"/>
                </a:solidFill>
              </a:rPr>
              <a:t>自电风扇发明至今，已有许多次的更新换代，功能日益强大。</a:t>
            </a:r>
            <a:endParaRPr lang="en-US" altLang="zh-CN" dirty="0">
              <a:solidFill>
                <a:schemeClr val="bg1"/>
              </a:solidFill>
            </a:endParaRPr>
          </a:p>
          <a:p>
            <a:r>
              <a:rPr lang="zh-CN" altLang="zh-CN" dirty="0">
                <a:solidFill>
                  <a:schemeClr val="bg1"/>
                </a:solidFill>
              </a:rPr>
              <a:t>然而，电风扇的外部构造几乎没有改变，一直采取外置旋转扇叶的结构。</a:t>
            </a:r>
            <a:endParaRPr lang="zh-CN" altLang="en-US" dirty="0">
              <a:solidFill>
                <a:schemeClr val="bg1"/>
              </a:solidFill>
            </a:endParaRPr>
          </a:p>
        </p:txBody>
      </p:sp>
      <p:sp>
        <p:nvSpPr>
          <p:cNvPr id="7" name="文本框 6"/>
          <p:cNvSpPr txBox="1"/>
          <p:nvPr/>
        </p:nvSpPr>
        <p:spPr>
          <a:xfrm>
            <a:off x="1625599" y="2949189"/>
            <a:ext cx="153035" cy="368300"/>
          </a:xfrm>
          <a:prstGeom prst="rect">
            <a:avLst/>
          </a:prstGeom>
          <a:noFill/>
        </p:spPr>
        <p:txBody>
          <a:bodyPr wrap="square" rtlCol="0">
            <a:spAutoFit/>
          </a:bodyPr>
          <a:lstStyle/>
          <a:p>
            <a:endParaRPr lang="zh-CN" altLang="en-US"/>
          </a:p>
        </p:txBody>
      </p:sp>
      <p:pic>
        <p:nvPicPr>
          <p:cNvPr id="13" name="Picture 12">
            <a:extLst>
              <a:ext uri="{FF2B5EF4-FFF2-40B4-BE49-F238E27FC236}">
                <a16:creationId xmlns:a16="http://schemas.microsoft.com/office/drawing/2014/main" id="{B118FB29-1602-4B92-BDCE-BA3FD5D00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5679" y="2398778"/>
            <a:ext cx="3019640" cy="4022160"/>
          </a:xfrm>
          <a:prstGeom prst="rect">
            <a:avLst/>
          </a:prstGeom>
        </p:spPr>
      </p:pic>
      <p:pic>
        <p:nvPicPr>
          <p:cNvPr id="15" name="Picture 14">
            <a:extLst>
              <a:ext uri="{FF2B5EF4-FFF2-40B4-BE49-F238E27FC236}">
                <a16:creationId xmlns:a16="http://schemas.microsoft.com/office/drawing/2014/main" id="{2F0CB115-8117-4E98-945F-8D2E7584DC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4230" y="2762360"/>
            <a:ext cx="3338885" cy="3338885"/>
          </a:xfrm>
          <a:prstGeom prst="rect">
            <a:avLst/>
          </a:prstGeom>
        </p:spPr>
      </p:pic>
      <p:pic>
        <p:nvPicPr>
          <p:cNvPr id="22" name="Picture 21">
            <a:extLst>
              <a:ext uri="{FF2B5EF4-FFF2-40B4-BE49-F238E27FC236}">
                <a16:creationId xmlns:a16="http://schemas.microsoft.com/office/drawing/2014/main" id="{A14D3575-C2E2-4EBD-AA45-EA3B9DA239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3872" y="2762360"/>
            <a:ext cx="3072896" cy="3072896"/>
          </a:xfrm>
          <a:prstGeom prst="rect">
            <a:avLst/>
          </a:prstGeom>
        </p:spPr>
      </p:pic>
    </p:spTree>
    <p:extLst>
      <p:ext uri="{BB962C8B-B14F-4D97-AF65-F5344CB8AC3E}">
        <p14:creationId xmlns:p14="http://schemas.microsoft.com/office/powerpoint/2010/main" val="3561106673"/>
      </p:ext>
    </p:extLst>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9880" y="151765"/>
            <a:ext cx="10515600" cy="1325563"/>
          </a:xfrm>
          <a:effectLst/>
        </p:spPr>
        <p:txBody>
          <a:bodyPr>
            <a:normAutofit/>
          </a:bodyPr>
          <a:lstStyle/>
          <a:p>
            <a:r>
              <a:rPr lang="zh-CN" altLang="en-US" sz="5400" b="1" dirty="0">
                <a:solidFill>
                  <a:schemeClr val="bg1"/>
                </a:solidFill>
                <a:latin typeface="微软雅黑 Light" panose="020B0502040204020203" charset="-122"/>
                <a:ea typeface="微软雅黑 Light" panose="020B0502040204020203" charset="-122"/>
              </a:rPr>
              <a:t>项目由来</a:t>
            </a:r>
            <a:endPar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7" name="文本框 6"/>
          <p:cNvSpPr txBox="1"/>
          <p:nvPr/>
        </p:nvSpPr>
        <p:spPr>
          <a:xfrm>
            <a:off x="1625599" y="2949189"/>
            <a:ext cx="153035" cy="368300"/>
          </a:xfrm>
          <a:prstGeom prst="rect">
            <a:avLst/>
          </a:prstGeom>
          <a:noFill/>
        </p:spPr>
        <p:txBody>
          <a:bodyPr wrap="square" rtlCol="0">
            <a:spAutoFit/>
          </a:bodyPr>
          <a:lstStyle/>
          <a:p>
            <a:endParaRPr lang="zh-CN" altLang="en-US"/>
          </a:p>
        </p:txBody>
      </p:sp>
      <p:sp>
        <p:nvSpPr>
          <p:cNvPr id="6" name="任意多边形 5"/>
          <p:cNvSpPr/>
          <p:nvPr/>
        </p:nvSpPr>
        <p:spPr>
          <a:xfrm>
            <a:off x="4226559" y="4472458"/>
            <a:ext cx="1319112" cy="695003"/>
          </a:xfrm>
          <a:custGeom>
            <a:avLst/>
            <a:gdLst>
              <a:gd name="connsiteX0" fmla="*/ 0 w 1244183"/>
              <a:gd name="connsiteY0" fmla="*/ 0 h 316727"/>
              <a:gd name="connsiteX1" fmla="*/ 674557 w 1244183"/>
              <a:gd name="connsiteY1" fmla="*/ 269823 h 316727"/>
              <a:gd name="connsiteX2" fmla="*/ 1244183 w 1244183"/>
              <a:gd name="connsiteY2" fmla="*/ 314793 h 316727"/>
            </a:gdLst>
            <a:ahLst/>
            <a:cxnLst>
              <a:cxn ang="0">
                <a:pos x="connsiteX0" y="connsiteY0"/>
              </a:cxn>
              <a:cxn ang="0">
                <a:pos x="connsiteX1" y="connsiteY1"/>
              </a:cxn>
              <a:cxn ang="0">
                <a:pos x="connsiteX2" y="connsiteY2"/>
              </a:cxn>
            </a:cxnLst>
            <a:rect l="l" t="t" r="r" b="b"/>
            <a:pathLst>
              <a:path w="1244183" h="316727">
                <a:moveTo>
                  <a:pt x="0" y="0"/>
                </a:moveTo>
                <a:cubicBezTo>
                  <a:pt x="233596" y="108679"/>
                  <a:pt x="467193" y="217358"/>
                  <a:pt x="674557" y="269823"/>
                </a:cubicBezTo>
                <a:cubicBezTo>
                  <a:pt x="881921" y="322288"/>
                  <a:pt x="1063052" y="318540"/>
                  <a:pt x="1244183" y="314793"/>
                </a:cubicBezTo>
              </a:path>
            </a:pathLst>
          </a:custGeom>
          <a:no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5470742" y="4991763"/>
            <a:ext cx="397095" cy="397095"/>
            <a:chOff x="5321717" y="4301054"/>
            <a:chExt cx="397094" cy="397094"/>
          </a:xfrm>
        </p:grpSpPr>
        <p:sp>
          <p:nvSpPr>
            <p:cNvPr id="9" name="椭圆 8"/>
            <p:cNvSpPr/>
            <p:nvPr/>
          </p:nvSpPr>
          <p:spPr>
            <a:xfrm>
              <a:off x="5321717" y="4301054"/>
              <a:ext cx="397094" cy="397094"/>
            </a:xfrm>
            <a:prstGeom prst="ellipse">
              <a:avLst/>
            </a:prstGeom>
            <a:solidFill>
              <a:srgbClr val="B0E4E3"/>
            </a:solidFill>
            <a:ln>
              <a:noFill/>
            </a:ln>
            <a:effectLst>
              <a:outerShdw blurRad="63500" dist="76200" dir="96000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396439" y="4375776"/>
              <a:ext cx="247650" cy="2476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6"/>
          <p:cNvSpPr txBox="1"/>
          <p:nvPr/>
        </p:nvSpPr>
        <p:spPr>
          <a:xfrm>
            <a:off x="6096000" y="528713"/>
            <a:ext cx="5118818" cy="2601546"/>
          </a:xfrm>
          <a:prstGeom prst="rect">
            <a:avLst/>
          </a:prstGeom>
          <a:noFill/>
          <a:ln w="9525">
            <a:noFill/>
            <a:prstDash val="dash"/>
          </a:ln>
          <a:effectLst/>
        </p:spPr>
        <p:txBody>
          <a:bodyPr wrap="square" rtlCol="0">
            <a:spAutoFit/>
          </a:bodyPr>
          <a:lstStyle/>
          <a:p>
            <a:pPr>
              <a:lnSpc>
                <a:spcPct val="150000"/>
              </a:lnSpc>
            </a:pPr>
            <a:r>
              <a:rPr lang="zh-CN" altLang="en-US"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有叶风扇造型丑陋且容易造成危险，表面积尘不易清理。</a:t>
            </a:r>
            <a:endParaRPr lang="en-US" altLang="zh-CN"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传统风扇智能化程度低，不能自主响应环境变化。</a:t>
            </a:r>
          </a:p>
        </p:txBody>
      </p:sp>
      <p:sp>
        <p:nvSpPr>
          <p:cNvPr id="16" name="文本框 20"/>
          <p:cNvSpPr txBox="1"/>
          <p:nvPr/>
        </p:nvSpPr>
        <p:spPr>
          <a:xfrm>
            <a:off x="6115450" y="4085302"/>
            <a:ext cx="4725921" cy="1955215"/>
          </a:xfrm>
          <a:prstGeom prst="rect">
            <a:avLst/>
          </a:prstGeom>
          <a:noFill/>
          <a:ln w="9525">
            <a:noFill/>
            <a:prstDash val="dash"/>
          </a:ln>
          <a:effectLst/>
        </p:spPr>
        <p:txBody>
          <a:bodyPr wrap="square" rtlCol="0">
            <a:spAutoFit/>
          </a:bodyPr>
          <a:lstStyle/>
          <a:p>
            <a:pPr algn="ctr">
              <a:lnSpc>
                <a:spcPct val="150000"/>
              </a:lnSpc>
            </a:pPr>
            <a:r>
              <a:rPr kumimoji="1" lang="zh-CN" altLang="en-US" sz="2800" dirty="0">
                <a:solidFill>
                  <a:srgbClr val="FFFF00"/>
                </a:solidFill>
                <a:latin typeface="微软雅黑" panose="020B0503020204020204" pitchFamily="34" charset="-122"/>
                <a:ea typeface="微软雅黑" panose="020B0503020204020204" pitchFamily="34" charset="-122"/>
                <a:cs typeface="微软雅黑" panose="020B0503020204020204" pitchFamily="34" charset="-122"/>
              </a:rPr>
              <a:t>无叶风扇</a:t>
            </a:r>
            <a:endParaRPr kumimoji="1" lang="en-US" altLang="zh-CN" sz="2800" dirty="0">
              <a:solidFill>
                <a:srgbClr val="FFFF00"/>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150000"/>
              </a:lnSpc>
            </a:pPr>
            <a:r>
              <a:rPr kumimoji="1" lang="en-US" altLang="zh-CN"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p>
          <a:p>
            <a:pPr algn="ctr">
              <a:lnSpc>
                <a:spcPct val="150000"/>
              </a:lnSpc>
            </a:pPr>
            <a:r>
              <a:rPr kumimoji="1" lang="zh-CN" altLang="en-US" sz="2800" dirty="0">
                <a:solidFill>
                  <a:srgbClr val="FFFF00"/>
                </a:solidFill>
                <a:latin typeface="微软雅黑" panose="020B0503020204020204" pitchFamily="34" charset="-122"/>
                <a:ea typeface="微软雅黑" panose="020B0503020204020204" pitchFamily="34" charset="-122"/>
                <a:cs typeface="微软雅黑" panose="020B0503020204020204" pitchFamily="34" charset="-122"/>
              </a:rPr>
              <a:t>自动控制</a:t>
            </a:r>
          </a:p>
        </p:txBody>
      </p:sp>
      <p:sp>
        <p:nvSpPr>
          <p:cNvPr id="17" name="任意多边形 16"/>
          <p:cNvSpPr/>
          <p:nvPr/>
        </p:nvSpPr>
        <p:spPr>
          <a:xfrm>
            <a:off x="4054483" y="1996849"/>
            <a:ext cx="1416259" cy="621513"/>
          </a:xfrm>
          <a:custGeom>
            <a:avLst/>
            <a:gdLst>
              <a:gd name="connsiteX0" fmla="*/ 0 w 1428750"/>
              <a:gd name="connsiteY0" fmla="*/ 323850 h 323850"/>
              <a:gd name="connsiteX1" fmla="*/ 704850 w 1428750"/>
              <a:gd name="connsiteY1" fmla="*/ 57150 h 323850"/>
              <a:gd name="connsiteX2" fmla="*/ 1428750 w 1428750"/>
              <a:gd name="connsiteY2" fmla="*/ 0 h 323850"/>
            </a:gdLst>
            <a:ahLst/>
            <a:cxnLst>
              <a:cxn ang="0">
                <a:pos x="connsiteX0" y="connsiteY0"/>
              </a:cxn>
              <a:cxn ang="0">
                <a:pos x="connsiteX1" y="connsiteY1"/>
              </a:cxn>
              <a:cxn ang="0">
                <a:pos x="connsiteX2" y="connsiteY2"/>
              </a:cxn>
            </a:cxnLst>
            <a:rect l="l" t="t" r="r" b="b"/>
            <a:pathLst>
              <a:path w="1428750" h="323850">
                <a:moveTo>
                  <a:pt x="0" y="323850"/>
                </a:moveTo>
                <a:cubicBezTo>
                  <a:pt x="233362" y="217487"/>
                  <a:pt x="466725" y="111125"/>
                  <a:pt x="704850" y="57150"/>
                </a:cubicBezTo>
                <a:cubicBezTo>
                  <a:pt x="942975" y="3175"/>
                  <a:pt x="1185862" y="1587"/>
                  <a:pt x="1428750" y="0"/>
                </a:cubicBezTo>
              </a:path>
            </a:pathLst>
          </a:custGeom>
          <a:no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5470949" y="1810155"/>
            <a:ext cx="397095" cy="397095"/>
            <a:chOff x="5321717" y="1828800"/>
            <a:chExt cx="397094" cy="397094"/>
          </a:xfrm>
        </p:grpSpPr>
        <p:sp>
          <p:nvSpPr>
            <p:cNvPr id="19" name="椭圆 18"/>
            <p:cNvSpPr/>
            <p:nvPr/>
          </p:nvSpPr>
          <p:spPr>
            <a:xfrm>
              <a:off x="5321717" y="1828800"/>
              <a:ext cx="397094" cy="397094"/>
            </a:xfrm>
            <a:prstGeom prst="ellipse">
              <a:avLst/>
            </a:prstGeom>
            <a:solidFill>
              <a:srgbClr val="FFC000"/>
            </a:solidFill>
            <a:ln>
              <a:noFill/>
            </a:ln>
            <a:effectLst>
              <a:outerShdw blurRad="63500" dist="76200" dir="9600000" sx="102000" sy="102000" algn="ctr"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5396439" y="1903522"/>
              <a:ext cx="247650" cy="2476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1390555" y="2157561"/>
            <a:ext cx="3009900" cy="3009900"/>
            <a:chOff x="1248412" y="2958121"/>
            <a:chExt cx="3009900" cy="3009900"/>
          </a:xfrm>
        </p:grpSpPr>
        <p:sp>
          <p:nvSpPr>
            <p:cNvPr id="26" name="椭圆 25"/>
            <p:cNvSpPr/>
            <p:nvPr/>
          </p:nvSpPr>
          <p:spPr>
            <a:xfrm>
              <a:off x="1457962" y="3167671"/>
              <a:ext cx="2590800" cy="2590800"/>
            </a:xfrm>
            <a:prstGeom prst="ellipse">
              <a:avLst/>
            </a:prstGeom>
            <a:solidFill>
              <a:schemeClr val="bg1"/>
            </a:solidFill>
            <a:ln>
              <a:noFill/>
            </a:ln>
            <a:effectLst>
              <a:outerShdw blurRad="127000" dist="50800" algn="c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248412" y="2958121"/>
              <a:ext cx="3009900" cy="3009900"/>
            </a:xfrm>
            <a:prstGeom prst="ellipse">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717228" y="3473304"/>
              <a:ext cx="1979533" cy="1979533"/>
            </a:xfrm>
            <a:prstGeom prst="ellipse">
              <a:avLst/>
            </a:prstGeom>
            <a:solidFill>
              <a:schemeClr val="accent6">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Group 4"/>
            <p:cNvGrpSpPr>
              <a:grpSpLocks noChangeAspect="1"/>
            </p:cNvGrpSpPr>
            <p:nvPr/>
          </p:nvGrpSpPr>
          <p:grpSpPr bwMode="auto">
            <a:xfrm>
              <a:off x="2400478" y="3967949"/>
              <a:ext cx="613034" cy="613034"/>
              <a:chOff x="1389" y="2542"/>
              <a:chExt cx="632" cy="632"/>
            </a:xfrm>
          </p:grpSpPr>
          <p:sp>
            <p:nvSpPr>
              <p:cNvPr id="31" name="AutoShape 3"/>
              <p:cNvSpPr>
                <a:spLocks noChangeAspect="1" noChangeArrowheads="1" noTextEdit="1"/>
              </p:cNvSpPr>
              <p:nvPr/>
            </p:nvSpPr>
            <p:spPr bwMode="auto">
              <a:xfrm>
                <a:off x="1389" y="2542"/>
                <a:ext cx="632"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2" name="Freeform 5"/>
              <p:cNvSpPr>
                <a:spLocks noEditPoints="1"/>
              </p:cNvSpPr>
              <p:nvPr/>
            </p:nvSpPr>
            <p:spPr bwMode="auto">
              <a:xfrm>
                <a:off x="1393" y="2546"/>
                <a:ext cx="632" cy="632"/>
              </a:xfrm>
              <a:custGeom>
                <a:avLst/>
                <a:gdLst>
                  <a:gd name="T0" fmla="*/ 26 w 168"/>
                  <a:gd name="T1" fmla="*/ 0 h 168"/>
                  <a:gd name="T2" fmla="*/ 0 w 168"/>
                  <a:gd name="T3" fmla="*/ 26 h 168"/>
                  <a:gd name="T4" fmla="*/ 0 w 168"/>
                  <a:gd name="T5" fmla="*/ 102 h 168"/>
                  <a:gd name="T6" fmla="*/ 26 w 168"/>
                  <a:gd name="T7" fmla="*/ 128 h 168"/>
                  <a:gd name="T8" fmla="*/ 64 w 168"/>
                  <a:gd name="T9" fmla="*/ 128 h 168"/>
                  <a:gd name="T10" fmla="*/ 64 w 168"/>
                  <a:gd name="T11" fmla="*/ 152 h 168"/>
                  <a:gd name="T12" fmla="*/ 52 w 168"/>
                  <a:gd name="T13" fmla="*/ 152 h 168"/>
                  <a:gd name="T14" fmla="*/ 44 w 168"/>
                  <a:gd name="T15" fmla="*/ 160 h 168"/>
                  <a:gd name="T16" fmla="*/ 52 w 168"/>
                  <a:gd name="T17" fmla="*/ 168 h 168"/>
                  <a:gd name="T18" fmla="*/ 116 w 168"/>
                  <a:gd name="T19" fmla="*/ 168 h 168"/>
                  <a:gd name="T20" fmla="*/ 124 w 168"/>
                  <a:gd name="T21" fmla="*/ 160 h 168"/>
                  <a:gd name="T22" fmla="*/ 116 w 168"/>
                  <a:gd name="T23" fmla="*/ 152 h 168"/>
                  <a:gd name="T24" fmla="*/ 104 w 168"/>
                  <a:gd name="T25" fmla="*/ 152 h 168"/>
                  <a:gd name="T26" fmla="*/ 104 w 168"/>
                  <a:gd name="T27" fmla="*/ 128 h 168"/>
                  <a:gd name="T28" fmla="*/ 142 w 168"/>
                  <a:gd name="T29" fmla="*/ 128 h 168"/>
                  <a:gd name="T30" fmla="*/ 168 w 168"/>
                  <a:gd name="T31" fmla="*/ 102 h 168"/>
                  <a:gd name="T32" fmla="*/ 168 w 168"/>
                  <a:gd name="T33" fmla="*/ 26 h 168"/>
                  <a:gd name="T34" fmla="*/ 142 w 168"/>
                  <a:gd name="T35" fmla="*/ 0 h 168"/>
                  <a:gd name="T36" fmla="*/ 26 w 168"/>
                  <a:gd name="T37" fmla="*/ 0 h 168"/>
                  <a:gd name="T38" fmla="*/ 40 w 168"/>
                  <a:gd name="T39" fmla="*/ 24 h 168"/>
                  <a:gd name="T40" fmla="*/ 128 w 168"/>
                  <a:gd name="T41" fmla="*/ 24 h 168"/>
                  <a:gd name="T42" fmla="*/ 144 w 168"/>
                  <a:gd name="T43" fmla="*/ 40 h 168"/>
                  <a:gd name="T44" fmla="*/ 144 w 168"/>
                  <a:gd name="T45" fmla="*/ 88 h 168"/>
                  <a:gd name="T46" fmla="*/ 128 w 168"/>
                  <a:gd name="T47" fmla="*/ 104 h 168"/>
                  <a:gd name="T48" fmla="*/ 40 w 168"/>
                  <a:gd name="T49" fmla="*/ 104 h 168"/>
                  <a:gd name="T50" fmla="*/ 24 w 168"/>
                  <a:gd name="T51" fmla="*/ 88 h 168"/>
                  <a:gd name="T52" fmla="*/ 24 w 168"/>
                  <a:gd name="T53" fmla="*/ 40 h 168"/>
                  <a:gd name="T54" fmla="*/ 40 w 168"/>
                  <a:gd name="T55" fmla="*/ 24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8" h="168">
                    <a:moveTo>
                      <a:pt x="26" y="0"/>
                    </a:moveTo>
                    <a:cubicBezTo>
                      <a:pt x="12" y="0"/>
                      <a:pt x="0" y="12"/>
                      <a:pt x="0" y="26"/>
                    </a:cubicBezTo>
                    <a:cubicBezTo>
                      <a:pt x="0" y="102"/>
                      <a:pt x="0" y="102"/>
                      <a:pt x="0" y="102"/>
                    </a:cubicBezTo>
                    <a:cubicBezTo>
                      <a:pt x="0" y="116"/>
                      <a:pt x="12" y="128"/>
                      <a:pt x="26" y="128"/>
                    </a:cubicBezTo>
                    <a:cubicBezTo>
                      <a:pt x="64" y="128"/>
                      <a:pt x="64" y="128"/>
                      <a:pt x="64" y="128"/>
                    </a:cubicBezTo>
                    <a:cubicBezTo>
                      <a:pt x="64" y="152"/>
                      <a:pt x="64" y="152"/>
                      <a:pt x="64" y="152"/>
                    </a:cubicBezTo>
                    <a:cubicBezTo>
                      <a:pt x="52" y="152"/>
                      <a:pt x="52" y="152"/>
                      <a:pt x="52" y="152"/>
                    </a:cubicBezTo>
                    <a:cubicBezTo>
                      <a:pt x="48" y="152"/>
                      <a:pt x="44" y="156"/>
                      <a:pt x="44" y="160"/>
                    </a:cubicBezTo>
                    <a:cubicBezTo>
                      <a:pt x="44" y="164"/>
                      <a:pt x="48" y="168"/>
                      <a:pt x="52" y="168"/>
                    </a:cubicBezTo>
                    <a:cubicBezTo>
                      <a:pt x="116" y="168"/>
                      <a:pt x="116" y="168"/>
                      <a:pt x="116" y="168"/>
                    </a:cubicBezTo>
                    <a:cubicBezTo>
                      <a:pt x="120" y="168"/>
                      <a:pt x="124" y="164"/>
                      <a:pt x="124" y="160"/>
                    </a:cubicBezTo>
                    <a:cubicBezTo>
                      <a:pt x="124" y="156"/>
                      <a:pt x="120" y="152"/>
                      <a:pt x="116" y="152"/>
                    </a:cubicBezTo>
                    <a:cubicBezTo>
                      <a:pt x="104" y="152"/>
                      <a:pt x="104" y="152"/>
                      <a:pt x="104" y="152"/>
                    </a:cubicBezTo>
                    <a:cubicBezTo>
                      <a:pt x="104" y="128"/>
                      <a:pt x="104" y="128"/>
                      <a:pt x="104" y="128"/>
                    </a:cubicBezTo>
                    <a:cubicBezTo>
                      <a:pt x="142" y="128"/>
                      <a:pt x="142" y="128"/>
                      <a:pt x="142" y="128"/>
                    </a:cubicBezTo>
                    <a:cubicBezTo>
                      <a:pt x="156" y="128"/>
                      <a:pt x="168" y="116"/>
                      <a:pt x="168" y="102"/>
                    </a:cubicBezTo>
                    <a:cubicBezTo>
                      <a:pt x="168" y="26"/>
                      <a:pt x="168" y="26"/>
                      <a:pt x="168" y="26"/>
                    </a:cubicBezTo>
                    <a:cubicBezTo>
                      <a:pt x="168" y="12"/>
                      <a:pt x="156" y="0"/>
                      <a:pt x="142" y="0"/>
                    </a:cubicBezTo>
                    <a:lnTo>
                      <a:pt x="26" y="0"/>
                    </a:lnTo>
                    <a:close/>
                    <a:moveTo>
                      <a:pt x="40" y="24"/>
                    </a:moveTo>
                    <a:cubicBezTo>
                      <a:pt x="128" y="24"/>
                      <a:pt x="128" y="24"/>
                      <a:pt x="128" y="24"/>
                    </a:cubicBezTo>
                    <a:cubicBezTo>
                      <a:pt x="137" y="24"/>
                      <a:pt x="144" y="31"/>
                      <a:pt x="144" y="40"/>
                    </a:cubicBezTo>
                    <a:cubicBezTo>
                      <a:pt x="144" y="88"/>
                      <a:pt x="144" y="88"/>
                      <a:pt x="144" y="88"/>
                    </a:cubicBezTo>
                    <a:cubicBezTo>
                      <a:pt x="144" y="97"/>
                      <a:pt x="137" y="104"/>
                      <a:pt x="128" y="104"/>
                    </a:cubicBezTo>
                    <a:cubicBezTo>
                      <a:pt x="40" y="104"/>
                      <a:pt x="40" y="104"/>
                      <a:pt x="40" y="104"/>
                    </a:cubicBezTo>
                    <a:cubicBezTo>
                      <a:pt x="31" y="104"/>
                      <a:pt x="24" y="97"/>
                      <a:pt x="24" y="88"/>
                    </a:cubicBezTo>
                    <a:cubicBezTo>
                      <a:pt x="24" y="40"/>
                      <a:pt x="24" y="40"/>
                      <a:pt x="24" y="40"/>
                    </a:cubicBezTo>
                    <a:cubicBezTo>
                      <a:pt x="24" y="31"/>
                      <a:pt x="31" y="24"/>
                      <a:pt x="40" y="2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0" name="文本框 33"/>
            <p:cNvSpPr txBox="1"/>
            <p:nvPr/>
          </p:nvSpPr>
          <p:spPr>
            <a:xfrm>
              <a:off x="2409476" y="4621256"/>
              <a:ext cx="595035" cy="338554"/>
            </a:xfrm>
            <a:prstGeom prst="rect">
              <a:avLst/>
            </a:prstGeom>
            <a:noFill/>
            <a:ln w="9525">
              <a:noFill/>
              <a:prstDash val="dash"/>
            </a:ln>
            <a:effectLst/>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缺点</a:t>
              </a:r>
            </a:p>
          </p:txBody>
        </p:sp>
      </p:grpSp>
      <p:sp>
        <p:nvSpPr>
          <p:cNvPr id="33" name="虚尾箭头 32"/>
          <p:cNvSpPr/>
          <p:nvPr/>
        </p:nvSpPr>
        <p:spPr>
          <a:xfrm rot="5400000">
            <a:off x="8116461" y="3322500"/>
            <a:ext cx="723900" cy="822325"/>
          </a:xfrm>
          <a:prstGeom prst="stripedRightArrow">
            <a:avLst>
              <a:gd name="adj1" fmla="val 52812"/>
              <a:gd name="adj2" fmla="val 2563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6A67-1EE3-4211-99CE-A200D963A6E2}"/>
              </a:ext>
            </a:extLst>
          </p:cNvPr>
          <p:cNvSpPr>
            <a:spLocks noGrp="1"/>
          </p:cNvSpPr>
          <p:nvPr>
            <p:ph type="title"/>
          </p:nvPr>
        </p:nvSpPr>
        <p:spPr>
          <a:xfrm>
            <a:off x="339340" y="1109525"/>
            <a:ext cx="4010023" cy="4273508"/>
          </a:xfrm>
        </p:spPr>
        <p:txBody>
          <a:bodyPr>
            <a:normAutofit/>
          </a:bodyPr>
          <a:lstStyle/>
          <a:p>
            <a:r>
              <a:rPr lang="zh-CN" altLang="en-US" sz="7200" b="1" dirty="0">
                <a:solidFill>
                  <a:schemeClr val="bg1"/>
                </a:solidFill>
              </a:rPr>
              <a:t>智能家居！</a:t>
            </a:r>
          </a:p>
        </p:txBody>
      </p:sp>
      <p:pic>
        <p:nvPicPr>
          <p:cNvPr id="5" name="Content Placeholder 4">
            <a:extLst>
              <a:ext uri="{FF2B5EF4-FFF2-40B4-BE49-F238E27FC236}">
                <a16:creationId xmlns:a16="http://schemas.microsoft.com/office/drawing/2014/main" id="{2E4CD544-21AB-4E28-9AE6-8130A71933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6200" y="788111"/>
            <a:ext cx="6895272" cy="5281778"/>
          </a:xfrm>
        </p:spPr>
      </p:pic>
    </p:spTree>
    <p:extLst>
      <p:ext uri="{BB962C8B-B14F-4D97-AF65-F5344CB8AC3E}">
        <p14:creationId xmlns:p14="http://schemas.microsoft.com/office/powerpoint/2010/main" val="55501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7589" y="105583"/>
            <a:ext cx="10515600" cy="1325563"/>
          </a:xfrm>
          <a:effectLst/>
        </p:spPr>
        <p:txBody>
          <a:bodyPr>
            <a:normAutofit/>
          </a:bodyPr>
          <a:lstStyle/>
          <a:p>
            <a:r>
              <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rPr>
              <a:t>研究现状</a:t>
            </a:r>
          </a:p>
        </p:txBody>
      </p:sp>
      <p:sp>
        <p:nvSpPr>
          <p:cNvPr id="4" name="文本框 3"/>
          <p:cNvSpPr txBox="1"/>
          <p:nvPr/>
        </p:nvSpPr>
        <p:spPr>
          <a:xfrm>
            <a:off x="411356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sp>
        <p:nvSpPr>
          <p:cNvPr id="7" name="文本框 6"/>
          <p:cNvSpPr txBox="1"/>
          <p:nvPr/>
        </p:nvSpPr>
        <p:spPr>
          <a:xfrm>
            <a:off x="1625600" y="3052445"/>
            <a:ext cx="153035" cy="368300"/>
          </a:xfrm>
          <a:prstGeom prst="rect">
            <a:avLst/>
          </a:prstGeom>
          <a:noFill/>
        </p:spPr>
        <p:txBody>
          <a:bodyPr wrap="square" rtlCol="0">
            <a:spAutoFit/>
          </a:bodyPr>
          <a:lstStyle/>
          <a:p>
            <a:endParaRPr lang="zh-CN" altLang="en-US"/>
          </a:p>
        </p:txBody>
      </p:sp>
      <p:cxnSp>
        <p:nvCxnSpPr>
          <p:cNvPr id="6" name="直接连接符 5"/>
          <p:cNvCxnSpPr/>
          <p:nvPr/>
        </p:nvCxnSpPr>
        <p:spPr>
          <a:xfrm>
            <a:off x="0" y="116214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36573" y="1579768"/>
            <a:ext cx="11479796" cy="3538220"/>
          </a:xfrm>
          <a:prstGeom prst="rect">
            <a:avLst/>
          </a:prstGeom>
          <a:noFill/>
        </p:spPr>
        <p:txBody>
          <a:bodyPr wrap="square" rtlCol="0">
            <a:spAutoFit/>
          </a:bodyPr>
          <a:lstStyle/>
          <a:p>
            <a:r>
              <a:rPr lang="zh-CN" altLang="en-US" sz="3200" dirty="0">
                <a:solidFill>
                  <a:schemeClr val="accent4">
                    <a:lumMod val="20000"/>
                    <a:lumOff val="80000"/>
                  </a:schemeClr>
                </a:solidFill>
                <a:latin typeface="Microsoft YaHei UI" panose="020B0503020204020204" pitchFamily="34" charset="-122"/>
                <a:ea typeface="Microsoft YaHei UI" panose="020B0503020204020204" pitchFamily="34" charset="-122"/>
              </a:rPr>
              <a:t>1、国内研究现状</a:t>
            </a:r>
          </a:p>
          <a:p>
            <a:r>
              <a:rPr lang="zh-CN" altLang="en-US" sz="3200" dirty="0">
                <a:solidFill>
                  <a:schemeClr val="accent4">
                    <a:lumMod val="20000"/>
                    <a:lumOff val="80000"/>
                  </a:schemeClr>
                </a:solidFill>
                <a:latin typeface="Microsoft YaHei UI" panose="020B0503020204020204" pitchFamily="34" charset="-122"/>
                <a:ea typeface="Microsoft YaHei UI" panose="020B0503020204020204" pitchFamily="34" charset="-122"/>
              </a:rPr>
              <a:t>在国内的普通的无叶风扇只有一些遥控的功能还无法做到人体感应、温度控制等功能。</a:t>
            </a:r>
          </a:p>
          <a:p>
            <a:r>
              <a:rPr lang="zh-CN" altLang="en-US" sz="3200" dirty="0">
                <a:solidFill>
                  <a:schemeClr val="accent4">
                    <a:lumMod val="20000"/>
                    <a:lumOff val="80000"/>
                  </a:schemeClr>
                </a:solidFill>
                <a:latin typeface="Microsoft YaHei UI" panose="020B0503020204020204" pitchFamily="34" charset="-122"/>
                <a:ea typeface="Microsoft YaHei UI" panose="020B0503020204020204" pitchFamily="34" charset="-122"/>
              </a:rPr>
              <a:t>而一些其他的无叶风扇设计中有的运用红外传感器、单片机和U/F变频控制电路等实现了温度控制的功能，但是无法调速；</a:t>
            </a:r>
          </a:p>
          <a:p>
            <a:r>
              <a:rPr lang="zh-CN" altLang="en-US" sz="3200" dirty="0">
                <a:solidFill>
                  <a:schemeClr val="accent4">
                    <a:lumMod val="20000"/>
                    <a:lumOff val="80000"/>
                  </a:schemeClr>
                </a:solidFill>
                <a:latin typeface="Microsoft YaHei UI" panose="020B0503020204020204" pitchFamily="34" charset="-122"/>
                <a:ea typeface="Microsoft YaHei UI" panose="020B0503020204020204" pitchFamily="34" charset="-122"/>
              </a:rPr>
              <a:t>有的运用单片机、温度传感器。人体感应传感器等实现了人体感应的功能，但是无法控制风量的多少</a:t>
            </a:r>
          </a:p>
        </p:txBody>
      </p:sp>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E77AB-B21E-418F-8971-43D16327BC36}"/>
              </a:ext>
            </a:extLst>
          </p:cNvPr>
          <p:cNvSpPr>
            <a:spLocks noGrp="1"/>
          </p:cNvSpPr>
          <p:nvPr>
            <p:ph type="title"/>
          </p:nvPr>
        </p:nvSpPr>
        <p:spPr>
          <a:xfrm>
            <a:off x="289560" y="18255"/>
            <a:ext cx="4587240" cy="1325563"/>
          </a:xfrm>
        </p:spPr>
        <p:txBody>
          <a:bodyPr/>
          <a:lstStyle/>
          <a:p>
            <a:r>
              <a:rPr lang="zh-CN" altLang="en-US" b="1" dirty="0">
                <a:solidFill>
                  <a:schemeClr val="bg1"/>
                </a:solidFill>
              </a:rPr>
              <a:t>国外研究现状</a:t>
            </a:r>
          </a:p>
        </p:txBody>
      </p:sp>
      <p:sp>
        <p:nvSpPr>
          <p:cNvPr id="3" name="内容占位符 2">
            <a:extLst>
              <a:ext uri="{FF2B5EF4-FFF2-40B4-BE49-F238E27FC236}">
                <a16:creationId xmlns:a16="http://schemas.microsoft.com/office/drawing/2014/main" id="{D0AEB6B4-2BE5-4D82-9C4A-1A40B1CAAAE6}"/>
              </a:ext>
            </a:extLst>
          </p:cNvPr>
          <p:cNvSpPr>
            <a:spLocks noGrp="1"/>
          </p:cNvSpPr>
          <p:nvPr>
            <p:ph idx="1"/>
          </p:nvPr>
        </p:nvSpPr>
        <p:spPr>
          <a:xfrm>
            <a:off x="838200" y="1343818"/>
            <a:ext cx="11064240" cy="4351338"/>
          </a:xfrm>
        </p:spPr>
        <p:txBody>
          <a:bodyPr>
            <a:normAutofit/>
          </a:bodyPr>
          <a:lstStyle/>
          <a:p>
            <a:r>
              <a:rPr lang="en-US" altLang="zh-CN" sz="3600" dirty="0">
                <a:solidFill>
                  <a:schemeClr val="bg1"/>
                </a:solidFill>
                <a:latin typeface="微软雅黑" panose="020B0503020204020204" pitchFamily="34" charset="-122"/>
                <a:ea typeface="微软雅黑" panose="020B0503020204020204" pitchFamily="34" charset="-122"/>
              </a:rPr>
              <a:t>    </a:t>
            </a:r>
            <a:r>
              <a:rPr lang="zh-CN" altLang="zh-CN" sz="3600" dirty="0">
                <a:solidFill>
                  <a:schemeClr val="bg1"/>
                </a:solidFill>
                <a:latin typeface="微软雅黑" panose="020B0503020204020204" pitchFamily="34" charset="-122"/>
                <a:ea typeface="微软雅黑" panose="020B0503020204020204" pitchFamily="34" charset="-122"/>
              </a:rPr>
              <a:t>无叶风扇是英国戴森（D y s o n)有限公司于2009年 10月12日在英国首度推出的产品。这种风扇是一种利用流体动力学工程技术，通过高效的无刷电机从底座部分吸入空气并使流增加后从环形喷嘴喷出，从而产生风量的设备，又被称为“戴森空气倍增器”</a:t>
            </a:r>
            <a:endParaRPr lang="en-US" altLang="zh-CN" sz="3600" dirty="0">
              <a:solidFill>
                <a:schemeClr val="bg1"/>
              </a:solidFill>
              <a:latin typeface="微软雅黑" panose="020B0503020204020204" pitchFamily="34" charset="-122"/>
              <a:ea typeface="微软雅黑" panose="020B0503020204020204" pitchFamily="34" charset="-122"/>
            </a:endParaRPr>
          </a:p>
          <a:p>
            <a:endParaRPr lang="zh-CN" altLang="en-US" dirty="0"/>
          </a:p>
        </p:txBody>
      </p:sp>
      <p:cxnSp>
        <p:nvCxnSpPr>
          <p:cNvPr id="4" name="直接连接符 3">
            <a:extLst>
              <a:ext uri="{FF2B5EF4-FFF2-40B4-BE49-F238E27FC236}">
                <a16:creationId xmlns:a16="http://schemas.microsoft.com/office/drawing/2014/main" id="{125E9E20-C4E2-49A1-9439-89EF0CC276BC}"/>
              </a:ext>
            </a:extLst>
          </p:cNvPr>
          <p:cNvCxnSpPr/>
          <p:nvPr/>
        </p:nvCxnSpPr>
        <p:spPr>
          <a:xfrm>
            <a:off x="0" y="117103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 name="内容占位符 2">
            <a:extLst>
              <a:ext uri="{FF2B5EF4-FFF2-40B4-BE49-F238E27FC236}">
                <a16:creationId xmlns:a16="http://schemas.microsoft.com/office/drawing/2014/main" id="{C4C779B6-AA9C-4597-A503-5B135589A0A2}"/>
              </a:ext>
            </a:extLst>
          </p:cNvPr>
          <p:cNvSpPr txBox="1">
            <a:spLocks/>
          </p:cNvSpPr>
          <p:nvPr/>
        </p:nvSpPr>
        <p:spPr>
          <a:xfrm>
            <a:off x="838200" y="4042251"/>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600" dirty="0">
                <a:solidFill>
                  <a:schemeClr val="bg1"/>
                </a:solidFill>
                <a:latin typeface="微软雅黑" panose="020B0503020204020204" pitchFamily="34" charset="-122"/>
                <a:ea typeface="微软雅黑" panose="020B0503020204020204" pitchFamily="34" charset="-122"/>
              </a:rPr>
              <a:t>    2008</a:t>
            </a:r>
            <a:r>
              <a:rPr lang="zh-CN" altLang="en-US" sz="3600" dirty="0">
                <a:solidFill>
                  <a:schemeClr val="bg1"/>
                </a:solidFill>
                <a:latin typeface="微软雅黑" panose="020B0503020204020204" pitchFamily="34" charset="-122"/>
                <a:ea typeface="微软雅黑" panose="020B0503020204020204" pitchFamily="34" charset="-122"/>
              </a:rPr>
              <a:t>年戴森公司提出了无叶风扇的基本结构：具有环形喷嘴（内部通道和排气口）和容纳有气流产出装置的基座。气流产生装置包含有</a:t>
            </a:r>
            <a:r>
              <a:rPr lang="en-US" altLang="zh-CN" sz="3600" dirty="0">
                <a:solidFill>
                  <a:schemeClr val="bg1"/>
                </a:solidFill>
                <a:latin typeface="微软雅黑" panose="020B0503020204020204" pitchFamily="34" charset="-122"/>
                <a:ea typeface="微软雅黑" panose="020B0503020204020204" pitchFamily="34" charset="-122"/>
              </a:rPr>
              <a:t>DC</a:t>
            </a:r>
            <a:r>
              <a:rPr lang="zh-CN" altLang="en-US" sz="3600" dirty="0">
                <a:solidFill>
                  <a:schemeClr val="bg1"/>
                </a:solidFill>
                <a:latin typeface="微软雅黑" panose="020B0503020204020204" pitchFamily="34" charset="-122"/>
                <a:ea typeface="微软雅黑" panose="020B0503020204020204" pitchFamily="34" charset="-122"/>
              </a:rPr>
              <a:t>无刷马达和混流叶轮，进风口设置在基座上。</a:t>
            </a:r>
            <a:endParaRPr lang="zh-CN" altLang="en-US" sz="3600" dirty="0"/>
          </a:p>
        </p:txBody>
      </p:sp>
    </p:spTree>
    <p:extLst>
      <p:ext uri="{BB962C8B-B14F-4D97-AF65-F5344CB8AC3E}">
        <p14:creationId xmlns:p14="http://schemas.microsoft.com/office/powerpoint/2010/main" val="991797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E77AB-B21E-418F-8971-43D16327BC36}"/>
              </a:ext>
            </a:extLst>
          </p:cNvPr>
          <p:cNvSpPr>
            <a:spLocks noGrp="1"/>
          </p:cNvSpPr>
          <p:nvPr>
            <p:ph type="title"/>
          </p:nvPr>
        </p:nvSpPr>
        <p:spPr>
          <a:xfrm>
            <a:off x="289560" y="18255"/>
            <a:ext cx="4587240" cy="1325563"/>
          </a:xfrm>
        </p:spPr>
        <p:txBody>
          <a:bodyPr/>
          <a:lstStyle/>
          <a:p>
            <a:r>
              <a:rPr lang="zh-CN" altLang="en-US" b="1" dirty="0">
                <a:solidFill>
                  <a:schemeClr val="bg1"/>
                </a:solidFill>
              </a:rPr>
              <a:t>国外研究现状</a:t>
            </a:r>
          </a:p>
        </p:txBody>
      </p:sp>
      <p:sp>
        <p:nvSpPr>
          <p:cNvPr id="3" name="内容占位符 2">
            <a:extLst>
              <a:ext uri="{FF2B5EF4-FFF2-40B4-BE49-F238E27FC236}">
                <a16:creationId xmlns:a16="http://schemas.microsoft.com/office/drawing/2014/main" id="{D0AEB6B4-2BE5-4D82-9C4A-1A40B1CAAAE6}"/>
              </a:ext>
            </a:extLst>
          </p:cNvPr>
          <p:cNvSpPr>
            <a:spLocks noGrp="1"/>
          </p:cNvSpPr>
          <p:nvPr>
            <p:ph idx="1"/>
          </p:nvPr>
        </p:nvSpPr>
        <p:spPr>
          <a:xfrm>
            <a:off x="289560" y="1171036"/>
            <a:ext cx="11064240" cy="3106259"/>
          </a:xfrm>
        </p:spPr>
        <p:txBody>
          <a:bodyPr>
            <a:noAutofit/>
          </a:bodyPr>
          <a:lstStyle/>
          <a:p>
            <a:r>
              <a:rPr lang="zh-CN" altLang="en-US" sz="3600" dirty="0">
                <a:solidFill>
                  <a:schemeClr val="bg1"/>
                </a:solidFill>
                <a:latin typeface="微软雅黑" panose="020B0503020204020204" pitchFamily="34" charset="-122"/>
                <a:ea typeface="微软雅黑" panose="020B0503020204020204" pitchFamily="34" charset="-122"/>
              </a:rPr>
              <a:t>之后戴森公司为了改进排气气流的平稳，设计了一种用于隔开喷嘴的相对表面的间隔装置；而为了提高气流的清洁性，提出了在风扇的产生空气流的装置的上游、下游以及喷嘴内设置过滤器。同时，提出了一种槽口形的喷嘴结构，实现相对平稳、基本均匀的空气流输出。</a:t>
            </a:r>
            <a:endParaRPr lang="en-US" altLang="zh-CN" sz="3600" dirty="0">
              <a:solidFill>
                <a:schemeClr val="bg1"/>
              </a:solidFill>
              <a:latin typeface="微软雅黑" panose="020B0503020204020204" pitchFamily="34" charset="-122"/>
              <a:ea typeface="微软雅黑" panose="020B0503020204020204" pitchFamily="34" charset="-122"/>
            </a:endParaRPr>
          </a:p>
          <a:p>
            <a:r>
              <a:rPr lang="en-US" altLang="zh-CN" sz="3600" dirty="0">
                <a:solidFill>
                  <a:schemeClr val="bg1"/>
                </a:solidFill>
                <a:latin typeface="微软雅黑" panose="020B0503020204020204" pitchFamily="34" charset="-122"/>
                <a:ea typeface="微软雅黑" panose="020B0503020204020204" pitchFamily="34" charset="-122"/>
              </a:rPr>
              <a:t>2011</a:t>
            </a:r>
            <a:r>
              <a:rPr lang="zh-CN" altLang="en-US" sz="3600" dirty="0">
                <a:solidFill>
                  <a:schemeClr val="bg1"/>
                </a:solidFill>
                <a:latin typeface="微软雅黑" panose="020B0503020204020204" pitchFamily="34" charset="-122"/>
                <a:ea typeface="微软雅黑" panose="020B0503020204020204" pitchFamily="34" charset="-122"/>
              </a:rPr>
              <a:t>年，在喷嘴内设置了多个流动通道和出口并相应设置有加热器从而使得无叶 风扇具有了调温功能。同时，提出了一种用于天花板的无叶风扇，可以给整个房间提供气流。而且，还对提出了通过相关装置以调节混合空气流的参数，实现空气流的有效调节。</a:t>
            </a:r>
            <a:endParaRPr lang="zh-CN" altLang="en-US" sz="3600" dirty="0"/>
          </a:p>
        </p:txBody>
      </p:sp>
      <p:cxnSp>
        <p:nvCxnSpPr>
          <p:cNvPr id="4" name="直接连接符 3">
            <a:extLst>
              <a:ext uri="{FF2B5EF4-FFF2-40B4-BE49-F238E27FC236}">
                <a16:creationId xmlns:a16="http://schemas.microsoft.com/office/drawing/2014/main" id="{125E9E20-C4E2-49A1-9439-89EF0CC276BC}"/>
              </a:ext>
            </a:extLst>
          </p:cNvPr>
          <p:cNvCxnSpPr/>
          <p:nvPr/>
        </p:nvCxnSpPr>
        <p:spPr>
          <a:xfrm>
            <a:off x="0" y="117103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2432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7589" y="105583"/>
            <a:ext cx="10515600" cy="1325563"/>
          </a:xfrm>
          <a:effectLst/>
        </p:spPr>
        <p:txBody>
          <a:bodyPr>
            <a:normAutofit/>
          </a:bodyPr>
          <a:lstStyle/>
          <a:p>
            <a:r>
              <a:rPr lang="zh-CN" altLang="en-US" sz="5400" b="1" dirty="0">
                <a:solidFill>
                  <a:schemeClr val="bg1"/>
                </a:solidFill>
                <a:latin typeface="微软雅黑 Light" panose="020B0502040204020203" charset="-122"/>
                <a:ea typeface="微软雅黑 Light" panose="020B0502040204020203" charset="-122"/>
              </a:rPr>
              <a:t>研究内容</a:t>
            </a:r>
            <a:endPar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4" name="文本框 3"/>
          <p:cNvSpPr txBox="1"/>
          <p:nvPr/>
        </p:nvSpPr>
        <p:spPr>
          <a:xfrm>
            <a:off x="529343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sp>
        <p:nvSpPr>
          <p:cNvPr id="7" name="文本框 6"/>
          <p:cNvSpPr txBox="1"/>
          <p:nvPr/>
        </p:nvSpPr>
        <p:spPr>
          <a:xfrm>
            <a:off x="1625600" y="3052445"/>
            <a:ext cx="153035" cy="368300"/>
          </a:xfrm>
          <a:prstGeom prst="rect">
            <a:avLst/>
          </a:prstGeom>
          <a:noFill/>
        </p:spPr>
        <p:txBody>
          <a:bodyPr wrap="square" rtlCol="0">
            <a:spAutoFit/>
          </a:bodyPr>
          <a:lstStyle/>
          <a:p>
            <a:endParaRPr lang="zh-CN" altLang="en-US"/>
          </a:p>
        </p:txBody>
      </p:sp>
      <p:cxnSp>
        <p:nvCxnSpPr>
          <p:cNvPr id="6" name="直接连接符 5"/>
          <p:cNvCxnSpPr/>
          <p:nvPr/>
        </p:nvCxnSpPr>
        <p:spPr>
          <a:xfrm>
            <a:off x="0" y="116214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0B84F68-9456-4561-B6A8-1F8F76D05FF3}"/>
              </a:ext>
            </a:extLst>
          </p:cNvPr>
          <p:cNvSpPr txBox="1"/>
          <p:nvPr/>
        </p:nvSpPr>
        <p:spPr>
          <a:xfrm>
            <a:off x="486062" y="1879547"/>
            <a:ext cx="11479796" cy="4031873"/>
          </a:xfrm>
          <a:prstGeom prst="rect">
            <a:avLst/>
          </a:prstGeom>
          <a:noFill/>
        </p:spPr>
        <p:txBody>
          <a:bodyPr wrap="square" rtlCol="0">
            <a:spAutoFit/>
          </a:bodyPr>
          <a:lstStyle/>
          <a:p>
            <a:r>
              <a:rPr lang="zh-CN" altLang="en-US" sz="2800" dirty="0">
                <a:solidFill>
                  <a:schemeClr val="bg1"/>
                </a:solidFill>
                <a:latin typeface="Microsoft YaHei UI" panose="020B0503020204020204" pitchFamily="34" charset="-122"/>
                <a:ea typeface="Microsoft YaHei UI" panose="020B0503020204020204" pitchFamily="34" charset="-122"/>
              </a:rPr>
              <a:t>本项目通过</a:t>
            </a:r>
            <a:r>
              <a:rPr lang="en-US" altLang="zh-CN" sz="2800" dirty="0">
                <a:solidFill>
                  <a:schemeClr val="bg1"/>
                </a:solidFill>
                <a:latin typeface="Microsoft YaHei UI" panose="020B0503020204020204" pitchFamily="34" charset="-122"/>
                <a:ea typeface="Microsoft YaHei UI" panose="020B0503020204020204" pitchFamily="34" charset="-122"/>
              </a:rPr>
              <a:t>Arduino</a:t>
            </a:r>
            <a:r>
              <a:rPr lang="zh-CN" altLang="en-US" sz="2800" dirty="0">
                <a:solidFill>
                  <a:schemeClr val="bg1"/>
                </a:solidFill>
                <a:latin typeface="Microsoft YaHei UI" panose="020B0503020204020204" pitchFamily="34" charset="-122"/>
                <a:ea typeface="Microsoft YaHei UI" panose="020B0503020204020204" pitchFamily="34" charset="-122"/>
              </a:rPr>
              <a:t>和相关部件，结合激光切割、</a:t>
            </a:r>
            <a:r>
              <a:rPr lang="en-US" altLang="zh-CN" sz="2800" dirty="0">
                <a:solidFill>
                  <a:schemeClr val="bg1"/>
                </a:solidFill>
                <a:latin typeface="Microsoft YaHei UI" panose="020B0503020204020204" pitchFamily="34" charset="-122"/>
                <a:ea typeface="Microsoft YaHei UI" panose="020B0503020204020204" pitchFamily="34" charset="-122"/>
              </a:rPr>
              <a:t>3D</a:t>
            </a:r>
            <a:r>
              <a:rPr lang="zh-CN" altLang="en-US" sz="2800" dirty="0">
                <a:solidFill>
                  <a:schemeClr val="bg1"/>
                </a:solidFill>
                <a:latin typeface="Microsoft YaHei UI" panose="020B0503020204020204" pitchFamily="34" charset="-122"/>
                <a:ea typeface="Microsoft YaHei UI" panose="020B0503020204020204" pitchFamily="34" charset="-122"/>
              </a:rPr>
              <a:t>打印，设计一款智能无叶风扇，需要实现：</a:t>
            </a:r>
            <a:endParaRPr lang="en-US" altLang="zh-CN" sz="2800" dirty="0">
              <a:solidFill>
                <a:schemeClr val="bg1"/>
              </a:solidFill>
              <a:latin typeface="Microsoft YaHei UI" panose="020B0503020204020204" pitchFamily="34" charset="-122"/>
              <a:ea typeface="Microsoft YaHei UI" panose="020B0503020204020204" pitchFamily="34" charset="-122"/>
            </a:endParaRPr>
          </a:p>
          <a:p>
            <a:endParaRPr lang="en-US" altLang="zh-CN" sz="2800" dirty="0">
              <a:solidFill>
                <a:schemeClr val="bg1"/>
              </a:solidFill>
              <a:latin typeface="Microsoft YaHei UI" panose="020B0503020204020204" pitchFamily="34" charset="-122"/>
              <a:ea typeface="Microsoft YaHei UI" panose="020B0503020204020204" pitchFamily="34" charset="-122"/>
            </a:endParaRPr>
          </a:p>
          <a:p>
            <a:pPr algn="ctr"/>
            <a:r>
              <a:rPr lang="zh-CN" altLang="en-US" sz="2800" dirty="0">
                <a:solidFill>
                  <a:schemeClr val="accent4"/>
                </a:solidFill>
                <a:latin typeface="Microsoft YaHei UI" panose="020B0503020204020204" pitchFamily="34" charset="-122"/>
                <a:ea typeface="Microsoft YaHei UI" panose="020B0503020204020204" pitchFamily="34" charset="-122"/>
              </a:rPr>
              <a:t>可根据用户距离风扇远近改变出风量</a:t>
            </a:r>
            <a:endParaRPr lang="en-US" altLang="zh-CN" sz="2800" dirty="0">
              <a:solidFill>
                <a:schemeClr val="accent4"/>
              </a:solidFill>
              <a:latin typeface="Microsoft YaHei UI" panose="020B0503020204020204" pitchFamily="34" charset="-122"/>
              <a:ea typeface="Microsoft YaHei UI" panose="020B0503020204020204" pitchFamily="34" charset="-122"/>
            </a:endParaRPr>
          </a:p>
          <a:p>
            <a:pPr algn="ctr"/>
            <a:endParaRPr lang="en-US" altLang="zh-CN" sz="2800" dirty="0">
              <a:solidFill>
                <a:schemeClr val="accent4"/>
              </a:solidFill>
              <a:latin typeface="Microsoft YaHei UI" panose="020B0503020204020204" pitchFamily="34" charset="-122"/>
              <a:ea typeface="Microsoft YaHei UI" panose="020B0503020204020204" pitchFamily="34" charset="-122"/>
            </a:endParaRPr>
          </a:p>
          <a:p>
            <a:pPr algn="ctr"/>
            <a:r>
              <a:rPr lang="zh-CN" altLang="en-US" sz="2800" dirty="0">
                <a:solidFill>
                  <a:schemeClr val="accent4"/>
                </a:solidFill>
                <a:latin typeface="Microsoft YaHei UI" panose="020B0503020204020204" pitchFamily="34" charset="-122"/>
                <a:ea typeface="Microsoft YaHei UI" panose="020B0503020204020204" pitchFamily="34" charset="-122"/>
              </a:rPr>
              <a:t>可以智能识别用户是否已离开</a:t>
            </a:r>
            <a:endParaRPr lang="en-US" altLang="zh-CN" sz="2800" dirty="0">
              <a:solidFill>
                <a:schemeClr val="accent4"/>
              </a:solidFill>
              <a:latin typeface="Microsoft YaHei UI" panose="020B0503020204020204" pitchFamily="34" charset="-122"/>
              <a:ea typeface="Microsoft YaHei UI" panose="020B0503020204020204" pitchFamily="34" charset="-122"/>
            </a:endParaRPr>
          </a:p>
          <a:p>
            <a:pPr algn="ctr"/>
            <a:endParaRPr lang="en-US" altLang="zh-CN" sz="2800" dirty="0">
              <a:solidFill>
                <a:schemeClr val="accent4"/>
              </a:solidFill>
              <a:latin typeface="Microsoft YaHei UI" panose="020B0503020204020204" pitchFamily="34" charset="-122"/>
              <a:ea typeface="Microsoft YaHei UI" panose="020B0503020204020204" pitchFamily="34" charset="-122"/>
            </a:endParaRPr>
          </a:p>
          <a:p>
            <a:pPr algn="ctr"/>
            <a:r>
              <a:rPr lang="zh-CN" altLang="en-US" sz="2800" dirty="0">
                <a:solidFill>
                  <a:schemeClr val="accent4"/>
                </a:solidFill>
                <a:latin typeface="Microsoft YaHei UI" panose="020B0503020204020204" pitchFamily="34" charset="-122"/>
                <a:ea typeface="Microsoft YaHei UI" panose="020B0503020204020204" pitchFamily="34" charset="-122"/>
              </a:rPr>
              <a:t>能转动出风</a:t>
            </a:r>
            <a:endParaRPr lang="en-US" altLang="zh-CN" sz="2800" dirty="0">
              <a:solidFill>
                <a:schemeClr val="accent4"/>
              </a:solidFill>
              <a:latin typeface="Microsoft YaHei UI" panose="020B0503020204020204" pitchFamily="34" charset="-122"/>
              <a:ea typeface="Microsoft YaHei UI" panose="020B0503020204020204" pitchFamily="34" charset="-122"/>
            </a:endParaRPr>
          </a:p>
          <a:p>
            <a:endParaRPr lang="en-US" altLang="zh-CN" sz="3200" dirty="0">
              <a:solidFill>
                <a:schemeClr val="bg1"/>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061992812"/>
      </p:ext>
    </p:extLst>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7589" y="105583"/>
            <a:ext cx="10515600" cy="1325563"/>
          </a:xfrm>
          <a:effectLst/>
        </p:spPr>
        <p:txBody>
          <a:bodyPr>
            <a:normAutofit/>
          </a:bodyPr>
          <a:lstStyle/>
          <a:p>
            <a:r>
              <a:rPr lang="zh-CN" altLang="en-US" sz="5400" b="1" dirty="0">
                <a:solidFill>
                  <a:schemeClr val="bg1"/>
                </a:solidFill>
                <a:latin typeface="微软雅黑 Light" panose="020B0502040204020203" charset="-122"/>
                <a:ea typeface="微软雅黑 Light" panose="020B0502040204020203" charset="-122"/>
              </a:rPr>
              <a:t>具体方案</a:t>
            </a:r>
            <a:endPar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4" name="文本框 3"/>
          <p:cNvSpPr txBox="1"/>
          <p:nvPr/>
        </p:nvSpPr>
        <p:spPr>
          <a:xfrm>
            <a:off x="529343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sp>
        <p:nvSpPr>
          <p:cNvPr id="7" name="文本框 6"/>
          <p:cNvSpPr txBox="1"/>
          <p:nvPr/>
        </p:nvSpPr>
        <p:spPr>
          <a:xfrm>
            <a:off x="1625600" y="3052445"/>
            <a:ext cx="153035" cy="368300"/>
          </a:xfrm>
          <a:prstGeom prst="rect">
            <a:avLst/>
          </a:prstGeom>
          <a:noFill/>
        </p:spPr>
        <p:txBody>
          <a:bodyPr wrap="square" rtlCol="0">
            <a:spAutoFit/>
          </a:bodyPr>
          <a:lstStyle/>
          <a:p>
            <a:endParaRPr lang="zh-CN" altLang="en-US"/>
          </a:p>
        </p:txBody>
      </p:sp>
      <p:cxnSp>
        <p:nvCxnSpPr>
          <p:cNvPr id="6" name="直接连接符 5"/>
          <p:cNvCxnSpPr/>
          <p:nvPr/>
        </p:nvCxnSpPr>
        <p:spPr>
          <a:xfrm>
            <a:off x="0" y="116214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0B84F68-9456-4561-B6A8-1F8F76D05FF3}"/>
              </a:ext>
            </a:extLst>
          </p:cNvPr>
          <p:cNvSpPr txBox="1"/>
          <p:nvPr/>
        </p:nvSpPr>
        <p:spPr>
          <a:xfrm>
            <a:off x="446733" y="1579768"/>
            <a:ext cx="11479796" cy="4031873"/>
          </a:xfrm>
          <a:prstGeom prst="rect">
            <a:avLst/>
          </a:prstGeom>
          <a:noFill/>
        </p:spPr>
        <p:txBody>
          <a:bodyPr wrap="square" rtlCol="0">
            <a:spAutoFit/>
          </a:bodyPr>
          <a:lstStyle/>
          <a:p>
            <a:r>
              <a:rPr lang="zh-CN" altLang="en-US" sz="2800" dirty="0">
                <a:solidFill>
                  <a:schemeClr val="accent2">
                    <a:lumMod val="20000"/>
                    <a:lumOff val="80000"/>
                  </a:schemeClr>
                </a:solidFill>
                <a:latin typeface="Microsoft YaHei UI" panose="020B0503020204020204" pitchFamily="34" charset="-122"/>
                <a:ea typeface="Microsoft YaHei UI" panose="020B0503020204020204" pitchFamily="34" charset="-122"/>
              </a:rPr>
              <a:t>普通模式：</a:t>
            </a:r>
            <a:endParaRPr lang="en-US" altLang="zh-CN" sz="2800" dirty="0">
              <a:solidFill>
                <a:schemeClr val="accent2">
                  <a:lumMod val="20000"/>
                  <a:lumOff val="80000"/>
                </a:schemeClr>
              </a:solidFill>
              <a:latin typeface="Microsoft YaHei UI" panose="020B0503020204020204" pitchFamily="34" charset="-122"/>
              <a:ea typeface="Microsoft YaHei UI" panose="020B0503020204020204" pitchFamily="34" charset="-122"/>
            </a:endParaRPr>
          </a:p>
          <a:p>
            <a:r>
              <a:rPr lang="zh-CN" altLang="en-US" sz="2800" dirty="0">
                <a:solidFill>
                  <a:schemeClr val="bg1"/>
                </a:solidFill>
                <a:latin typeface="Microsoft YaHei UI" panose="020B0503020204020204" pitchFamily="34" charset="-122"/>
                <a:ea typeface="Microsoft YaHei UI" panose="020B0503020204020204" pitchFamily="34" charset="-122"/>
              </a:rPr>
              <a:t>风扇以恒定速度出风，不对风量进行自动控制（控制输出电压为一定值）</a:t>
            </a:r>
            <a:endParaRPr lang="en-US" altLang="zh-CN" sz="2800" dirty="0">
              <a:solidFill>
                <a:schemeClr val="bg1"/>
              </a:solidFill>
              <a:latin typeface="Microsoft YaHei UI" panose="020B0503020204020204" pitchFamily="34" charset="-122"/>
              <a:ea typeface="Microsoft YaHei UI" panose="020B0503020204020204" pitchFamily="34" charset="-122"/>
            </a:endParaRPr>
          </a:p>
          <a:p>
            <a:endParaRPr lang="en-US" altLang="zh-CN" sz="2800" dirty="0">
              <a:solidFill>
                <a:schemeClr val="bg1"/>
              </a:solidFill>
              <a:latin typeface="Microsoft YaHei UI" panose="020B0503020204020204" pitchFamily="34" charset="-122"/>
              <a:ea typeface="Microsoft YaHei UI" panose="020B0503020204020204" pitchFamily="34" charset="-122"/>
            </a:endParaRPr>
          </a:p>
          <a:p>
            <a:endParaRPr lang="en-US" altLang="zh-CN" sz="2800" dirty="0">
              <a:solidFill>
                <a:schemeClr val="bg1"/>
              </a:solidFill>
              <a:latin typeface="Microsoft YaHei UI" panose="020B0503020204020204" pitchFamily="34" charset="-122"/>
              <a:ea typeface="Microsoft YaHei UI" panose="020B0503020204020204" pitchFamily="34" charset="-122"/>
            </a:endParaRPr>
          </a:p>
          <a:p>
            <a:r>
              <a:rPr lang="zh-CN" altLang="en-US" sz="2800" dirty="0">
                <a:solidFill>
                  <a:schemeClr val="accent2">
                    <a:lumMod val="20000"/>
                    <a:lumOff val="80000"/>
                  </a:schemeClr>
                </a:solidFill>
                <a:latin typeface="Microsoft YaHei UI" panose="020B0503020204020204" pitchFamily="34" charset="-122"/>
                <a:ea typeface="Microsoft YaHei UI" panose="020B0503020204020204" pitchFamily="34" charset="-122"/>
              </a:rPr>
              <a:t>智能模式：</a:t>
            </a:r>
            <a:endParaRPr lang="en-US" altLang="zh-CN" sz="2800" dirty="0">
              <a:solidFill>
                <a:schemeClr val="accent2">
                  <a:lumMod val="20000"/>
                  <a:lumOff val="80000"/>
                </a:schemeClr>
              </a:solidFill>
              <a:latin typeface="Microsoft YaHei UI" panose="020B0503020204020204" pitchFamily="34" charset="-122"/>
              <a:ea typeface="Microsoft YaHei UI" panose="020B0503020204020204" pitchFamily="34" charset="-122"/>
            </a:endParaRPr>
          </a:p>
          <a:p>
            <a:r>
              <a:rPr lang="zh-CN" altLang="en-US" sz="2800" dirty="0">
                <a:solidFill>
                  <a:schemeClr val="bg1"/>
                </a:solidFill>
                <a:latin typeface="Microsoft YaHei UI" panose="020B0503020204020204" pitchFamily="34" charset="-122"/>
                <a:ea typeface="Microsoft YaHei UI" panose="020B0503020204020204" pitchFamily="34" charset="-122"/>
              </a:rPr>
              <a:t>通过超声波传感器来识别风扇与用户的距离，通过模拟输出来控制风扇转速，若距离变近则减小风力输出，反之则增大输出。若用户离开，则停止出风直到用户重新回到风扇前</a:t>
            </a:r>
            <a:endParaRPr lang="en-US" altLang="zh-CN" sz="2800" dirty="0">
              <a:solidFill>
                <a:schemeClr val="bg1"/>
              </a:solidFill>
              <a:latin typeface="Microsoft YaHei UI" panose="020B0503020204020204" pitchFamily="34" charset="-122"/>
              <a:ea typeface="Microsoft YaHei UI" panose="020B0503020204020204" pitchFamily="34" charset="-122"/>
            </a:endParaRPr>
          </a:p>
          <a:p>
            <a:endParaRPr lang="en-US" altLang="zh-CN" sz="3200" dirty="0">
              <a:solidFill>
                <a:schemeClr val="bg1"/>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158363433"/>
      </p:ext>
    </p:extLst>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7589" y="105583"/>
            <a:ext cx="10515600" cy="1325563"/>
          </a:xfrm>
          <a:effectLst/>
        </p:spPr>
        <p:txBody>
          <a:bodyPr>
            <a:normAutofit/>
          </a:bodyPr>
          <a:lstStyle/>
          <a:p>
            <a:r>
              <a:rPr lang="zh-CN" altLang="en-US" sz="5400" b="1" dirty="0">
                <a:solidFill>
                  <a:schemeClr val="bg1"/>
                </a:solidFill>
                <a:latin typeface="微软雅黑 Light" panose="020B0502040204020203" charset="-122"/>
                <a:ea typeface="微软雅黑 Light" panose="020B0502040204020203" charset="-122"/>
              </a:rPr>
              <a:t>具体方案</a:t>
            </a:r>
            <a:endPar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4" name="文本框 3"/>
          <p:cNvSpPr txBox="1"/>
          <p:nvPr/>
        </p:nvSpPr>
        <p:spPr>
          <a:xfrm>
            <a:off x="529343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sp>
        <p:nvSpPr>
          <p:cNvPr id="7" name="文本框 6"/>
          <p:cNvSpPr txBox="1"/>
          <p:nvPr/>
        </p:nvSpPr>
        <p:spPr>
          <a:xfrm>
            <a:off x="1625600" y="3052445"/>
            <a:ext cx="153035" cy="368300"/>
          </a:xfrm>
          <a:prstGeom prst="rect">
            <a:avLst/>
          </a:prstGeom>
          <a:noFill/>
        </p:spPr>
        <p:txBody>
          <a:bodyPr wrap="square" rtlCol="0">
            <a:spAutoFit/>
          </a:bodyPr>
          <a:lstStyle/>
          <a:p>
            <a:endParaRPr lang="zh-CN" altLang="en-US"/>
          </a:p>
        </p:txBody>
      </p:sp>
      <p:cxnSp>
        <p:nvCxnSpPr>
          <p:cNvPr id="6" name="直接连接符 5"/>
          <p:cNvCxnSpPr/>
          <p:nvPr/>
        </p:nvCxnSpPr>
        <p:spPr>
          <a:xfrm>
            <a:off x="0" y="116214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0B84F68-9456-4561-B6A8-1F8F76D05FF3}"/>
              </a:ext>
            </a:extLst>
          </p:cNvPr>
          <p:cNvSpPr txBox="1"/>
          <p:nvPr/>
        </p:nvSpPr>
        <p:spPr>
          <a:xfrm>
            <a:off x="579469" y="2730142"/>
            <a:ext cx="11479796" cy="1815882"/>
          </a:xfrm>
          <a:prstGeom prst="rect">
            <a:avLst/>
          </a:prstGeom>
          <a:noFill/>
        </p:spPr>
        <p:txBody>
          <a:bodyPr wrap="square" rtlCol="0">
            <a:spAutoFit/>
          </a:bodyPr>
          <a:lstStyle/>
          <a:p>
            <a:r>
              <a:rPr lang="zh-CN" altLang="en-US" sz="2800" dirty="0">
                <a:solidFill>
                  <a:schemeClr val="accent2">
                    <a:lumMod val="20000"/>
                    <a:lumOff val="80000"/>
                  </a:schemeClr>
                </a:solidFill>
                <a:latin typeface="Microsoft YaHei UI" panose="020B0503020204020204" pitchFamily="34" charset="-122"/>
                <a:ea typeface="Microsoft YaHei UI" panose="020B0503020204020204" pitchFamily="34" charset="-122"/>
              </a:rPr>
              <a:t>转动功能：</a:t>
            </a:r>
            <a:endParaRPr lang="en-US" altLang="zh-CN" sz="2800" dirty="0">
              <a:solidFill>
                <a:schemeClr val="accent2">
                  <a:lumMod val="20000"/>
                  <a:lumOff val="80000"/>
                </a:schemeClr>
              </a:solidFill>
              <a:latin typeface="Microsoft YaHei UI" panose="020B0503020204020204" pitchFamily="34" charset="-122"/>
              <a:ea typeface="Microsoft YaHei UI" panose="020B0503020204020204" pitchFamily="34" charset="-122"/>
            </a:endParaRPr>
          </a:p>
          <a:p>
            <a:r>
              <a:rPr lang="zh-CN" altLang="en-US" sz="2800" dirty="0">
                <a:solidFill>
                  <a:schemeClr val="bg1"/>
                </a:solidFill>
                <a:latin typeface="Microsoft YaHei UI" panose="020B0503020204020204" pitchFamily="34" charset="-122"/>
                <a:ea typeface="Microsoft YaHei UI" panose="020B0503020204020204" pitchFamily="34" charset="-122"/>
              </a:rPr>
              <a:t>通过舵机来进行实现，舵机位于上下连接处中轴处，通过舵机转动带动上半部分进行转动，从而实现风向的变化。算法上使用定时器实现转动功能。</a:t>
            </a:r>
            <a:endParaRPr lang="en-US" altLang="zh-CN" sz="3200" dirty="0">
              <a:solidFill>
                <a:schemeClr val="bg1"/>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94607199"/>
      </p:ext>
    </p:extLst>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7589" y="105583"/>
            <a:ext cx="10515600" cy="1325563"/>
          </a:xfrm>
          <a:effectLst/>
        </p:spPr>
        <p:txBody>
          <a:bodyPr>
            <a:normAutofit/>
          </a:bodyPr>
          <a:lstStyle/>
          <a:p>
            <a:r>
              <a:rPr lang="zh-CN" altLang="en-US" sz="5400" b="1" dirty="0">
                <a:solidFill>
                  <a:schemeClr val="bg1"/>
                </a:solidFill>
                <a:latin typeface="微软雅黑 Light" panose="020B0502040204020203" charset="-122"/>
                <a:ea typeface="微软雅黑 Light" panose="020B0502040204020203" charset="-122"/>
              </a:rPr>
              <a:t>具体方案</a:t>
            </a:r>
            <a:endPar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4" name="文本框 3"/>
          <p:cNvSpPr txBox="1"/>
          <p:nvPr/>
        </p:nvSpPr>
        <p:spPr>
          <a:xfrm>
            <a:off x="529343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sp>
        <p:nvSpPr>
          <p:cNvPr id="7" name="文本框 6"/>
          <p:cNvSpPr txBox="1"/>
          <p:nvPr/>
        </p:nvSpPr>
        <p:spPr>
          <a:xfrm>
            <a:off x="1625600" y="3052445"/>
            <a:ext cx="153035" cy="368300"/>
          </a:xfrm>
          <a:prstGeom prst="rect">
            <a:avLst/>
          </a:prstGeom>
          <a:noFill/>
        </p:spPr>
        <p:txBody>
          <a:bodyPr wrap="square" rtlCol="0">
            <a:spAutoFit/>
          </a:bodyPr>
          <a:lstStyle/>
          <a:p>
            <a:endParaRPr lang="zh-CN" altLang="en-US"/>
          </a:p>
        </p:txBody>
      </p:sp>
      <p:cxnSp>
        <p:nvCxnSpPr>
          <p:cNvPr id="6" name="直接连接符 5"/>
          <p:cNvCxnSpPr/>
          <p:nvPr/>
        </p:nvCxnSpPr>
        <p:spPr>
          <a:xfrm>
            <a:off x="0" y="116214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0B84F68-9456-4561-B6A8-1F8F76D05FF3}"/>
              </a:ext>
            </a:extLst>
          </p:cNvPr>
          <p:cNvSpPr txBox="1"/>
          <p:nvPr/>
        </p:nvSpPr>
        <p:spPr>
          <a:xfrm>
            <a:off x="446733" y="1579768"/>
            <a:ext cx="6838970" cy="4031873"/>
          </a:xfrm>
          <a:prstGeom prst="rect">
            <a:avLst/>
          </a:prstGeom>
          <a:noFill/>
        </p:spPr>
        <p:txBody>
          <a:bodyPr wrap="square" rtlCol="0">
            <a:spAutoFit/>
          </a:bodyPr>
          <a:lstStyle/>
          <a:p>
            <a:r>
              <a:rPr lang="zh-CN" altLang="en-US" sz="3200" dirty="0">
                <a:solidFill>
                  <a:schemeClr val="accent2">
                    <a:lumMod val="20000"/>
                    <a:lumOff val="80000"/>
                  </a:schemeClr>
                </a:solidFill>
                <a:latin typeface="Microsoft YaHei UI" panose="020B0503020204020204" pitchFamily="34" charset="-122"/>
                <a:ea typeface="Microsoft YaHei UI" panose="020B0503020204020204" pitchFamily="34" charset="-122"/>
              </a:rPr>
              <a:t>结构：</a:t>
            </a:r>
            <a:endParaRPr lang="en-US" altLang="zh-CN" sz="3200" dirty="0">
              <a:solidFill>
                <a:schemeClr val="accent2">
                  <a:lumMod val="20000"/>
                  <a:lumOff val="80000"/>
                </a:schemeClr>
              </a:solidFill>
              <a:latin typeface="Microsoft YaHei UI" panose="020B0503020204020204" pitchFamily="34" charset="-122"/>
              <a:ea typeface="Microsoft YaHei UI" panose="020B0503020204020204" pitchFamily="34" charset="-122"/>
            </a:endParaRPr>
          </a:p>
          <a:p>
            <a:endParaRPr lang="en-US" altLang="zh-CN" sz="3200" dirty="0">
              <a:solidFill>
                <a:schemeClr val="accent2">
                  <a:lumMod val="20000"/>
                  <a:lumOff val="80000"/>
                </a:schemeClr>
              </a:solidFill>
              <a:latin typeface="Microsoft YaHei UI" panose="020B0503020204020204" pitchFamily="34" charset="-122"/>
              <a:ea typeface="Microsoft YaHei UI" panose="020B0503020204020204" pitchFamily="34" charset="-122"/>
            </a:endParaRPr>
          </a:p>
          <a:p>
            <a:r>
              <a:rPr lang="zh-CN" altLang="en-US" sz="3200" dirty="0">
                <a:solidFill>
                  <a:schemeClr val="bg1"/>
                </a:solidFill>
                <a:latin typeface="Microsoft YaHei UI" panose="020B0503020204020204" pitchFamily="34" charset="-122"/>
                <a:ea typeface="Microsoft YaHei UI" panose="020B0503020204020204" pitchFamily="34" charset="-122"/>
              </a:rPr>
              <a:t>风扇结构分为上下两部分，中间由上下连接件</a:t>
            </a:r>
            <a:r>
              <a:rPr lang="en-US" altLang="zh-CN" sz="3200" dirty="0">
                <a:solidFill>
                  <a:schemeClr val="bg1"/>
                </a:solidFill>
                <a:latin typeface="Microsoft YaHei UI" panose="020B0503020204020204" pitchFamily="34" charset="-122"/>
                <a:ea typeface="Microsoft YaHei UI" panose="020B0503020204020204" pitchFamily="34" charset="-122"/>
              </a:rPr>
              <a:t>(</a:t>
            </a:r>
            <a:r>
              <a:rPr lang="zh-CN" altLang="en-US" sz="3200" dirty="0">
                <a:solidFill>
                  <a:schemeClr val="bg1"/>
                </a:solidFill>
                <a:latin typeface="Microsoft YaHei UI" panose="020B0503020204020204" pitchFamily="34" charset="-122"/>
                <a:ea typeface="Microsoft YaHei UI" panose="020B0503020204020204" pitchFamily="34" charset="-122"/>
              </a:rPr>
              <a:t>内含舵机</a:t>
            </a:r>
            <a:r>
              <a:rPr lang="en-US" altLang="zh-CN" sz="3200" dirty="0">
                <a:solidFill>
                  <a:schemeClr val="bg1"/>
                </a:solidFill>
                <a:latin typeface="Microsoft YaHei UI" panose="020B0503020204020204" pitchFamily="34" charset="-122"/>
                <a:ea typeface="Microsoft YaHei UI" panose="020B0503020204020204" pitchFamily="34" charset="-122"/>
              </a:rPr>
              <a:t>)</a:t>
            </a:r>
            <a:r>
              <a:rPr lang="zh-CN" altLang="en-US" sz="3200" dirty="0">
                <a:solidFill>
                  <a:schemeClr val="bg1"/>
                </a:solidFill>
                <a:latin typeface="Microsoft YaHei UI" panose="020B0503020204020204" pitchFamily="34" charset="-122"/>
                <a:ea typeface="Microsoft YaHei UI" panose="020B0503020204020204" pitchFamily="34" charset="-122"/>
              </a:rPr>
              <a:t>相连，风扇固定于上半部分，</a:t>
            </a:r>
            <a:r>
              <a:rPr lang="en-US" altLang="zh-CN" sz="3200" dirty="0">
                <a:solidFill>
                  <a:schemeClr val="bg1"/>
                </a:solidFill>
                <a:latin typeface="Microsoft YaHei UI" panose="020B0503020204020204" pitchFamily="34" charset="-122"/>
                <a:ea typeface="Microsoft YaHei UI" panose="020B0503020204020204" pitchFamily="34" charset="-122"/>
              </a:rPr>
              <a:t>Arduino</a:t>
            </a:r>
            <a:r>
              <a:rPr lang="zh-CN" altLang="en-US" sz="3200" dirty="0">
                <a:solidFill>
                  <a:schemeClr val="bg1"/>
                </a:solidFill>
                <a:latin typeface="Microsoft YaHei UI" panose="020B0503020204020204" pitchFamily="34" charset="-122"/>
                <a:ea typeface="Microsoft YaHei UI" panose="020B0503020204020204" pitchFamily="34" charset="-122"/>
              </a:rPr>
              <a:t>、超声波传感器、普通</a:t>
            </a:r>
            <a:r>
              <a:rPr lang="en-US" altLang="zh-CN" sz="3200" dirty="0">
                <a:solidFill>
                  <a:schemeClr val="bg1"/>
                </a:solidFill>
                <a:latin typeface="Microsoft YaHei UI" panose="020B0503020204020204" pitchFamily="34" charset="-122"/>
                <a:ea typeface="Microsoft YaHei UI" panose="020B0503020204020204" pitchFamily="34" charset="-122"/>
              </a:rPr>
              <a:t>/</a:t>
            </a:r>
            <a:r>
              <a:rPr lang="zh-CN" altLang="en-US" sz="3200" dirty="0">
                <a:solidFill>
                  <a:schemeClr val="bg1"/>
                </a:solidFill>
                <a:latin typeface="Microsoft YaHei UI" panose="020B0503020204020204" pitchFamily="34" charset="-122"/>
                <a:ea typeface="Microsoft YaHei UI" panose="020B0503020204020204" pitchFamily="34" charset="-122"/>
              </a:rPr>
              <a:t>智能模式切换按钮、转动功能按钮、模式提示灯均放于下半部分。</a:t>
            </a:r>
            <a:endParaRPr lang="en-US" altLang="zh-CN" sz="3200" dirty="0">
              <a:solidFill>
                <a:schemeClr val="bg1"/>
              </a:solidFill>
              <a:latin typeface="Microsoft YaHei UI" panose="020B0503020204020204" pitchFamily="34" charset="-122"/>
              <a:ea typeface="Microsoft YaHei UI" panose="020B0503020204020204" pitchFamily="34" charset="-122"/>
            </a:endParaRPr>
          </a:p>
        </p:txBody>
      </p:sp>
      <p:pic>
        <p:nvPicPr>
          <p:cNvPr id="5" name="图片 4">
            <a:extLst>
              <a:ext uri="{FF2B5EF4-FFF2-40B4-BE49-F238E27FC236}">
                <a16:creationId xmlns:a16="http://schemas.microsoft.com/office/drawing/2014/main" id="{EAC7AE17-C0A0-4ED5-96B4-25814586568E}"/>
              </a:ext>
            </a:extLst>
          </p:cNvPr>
          <p:cNvPicPr>
            <a:picLocks noChangeAspect="1"/>
          </p:cNvPicPr>
          <p:nvPr/>
        </p:nvPicPr>
        <p:blipFill>
          <a:blip r:embed="rId3"/>
          <a:stretch>
            <a:fillRect/>
          </a:stretch>
        </p:blipFill>
        <p:spPr>
          <a:xfrm>
            <a:off x="8035060" y="1162146"/>
            <a:ext cx="3252372" cy="5615896"/>
          </a:xfrm>
          <a:prstGeom prst="rect">
            <a:avLst/>
          </a:prstGeom>
        </p:spPr>
      </p:pic>
    </p:spTree>
    <p:extLst>
      <p:ext uri="{BB962C8B-B14F-4D97-AF65-F5344CB8AC3E}">
        <p14:creationId xmlns:p14="http://schemas.microsoft.com/office/powerpoint/2010/main" val="3245322756"/>
      </p:ext>
    </p:extLst>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A0BD23B7-99BB-43CA-983A-0E2D479B5748}"/>
              </a:ext>
            </a:extLst>
          </p:cNvPr>
          <p:cNvSpPr/>
          <p:nvPr/>
        </p:nvSpPr>
        <p:spPr>
          <a:xfrm>
            <a:off x="7454520" y="1162146"/>
            <a:ext cx="3736258" cy="55902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337589" y="105583"/>
            <a:ext cx="10515600" cy="1325563"/>
          </a:xfrm>
          <a:effectLst/>
        </p:spPr>
        <p:txBody>
          <a:bodyPr>
            <a:normAutofit/>
          </a:bodyPr>
          <a:lstStyle/>
          <a:p>
            <a:r>
              <a:rPr lang="zh-CN" altLang="en-US" sz="5400" b="1" dirty="0">
                <a:solidFill>
                  <a:schemeClr val="bg1"/>
                </a:solidFill>
                <a:latin typeface="微软雅黑 Light" panose="020B0502040204020203" charset="-122"/>
                <a:ea typeface="微软雅黑 Light" panose="020B0502040204020203" charset="-122"/>
              </a:rPr>
              <a:t>具体方案</a:t>
            </a:r>
            <a:endPar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4" name="文本框 3"/>
          <p:cNvSpPr txBox="1"/>
          <p:nvPr/>
        </p:nvSpPr>
        <p:spPr>
          <a:xfrm>
            <a:off x="529343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sp>
        <p:nvSpPr>
          <p:cNvPr id="7" name="文本框 6"/>
          <p:cNvSpPr txBox="1"/>
          <p:nvPr/>
        </p:nvSpPr>
        <p:spPr>
          <a:xfrm>
            <a:off x="1625600" y="3052445"/>
            <a:ext cx="153035" cy="368300"/>
          </a:xfrm>
          <a:prstGeom prst="rect">
            <a:avLst/>
          </a:prstGeom>
          <a:noFill/>
        </p:spPr>
        <p:txBody>
          <a:bodyPr wrap="square" rtlCol="0">
            <a:spAutoFit/>
          </a:bodyPr>
          <a:lstStyle/>
          <a:p>
            <a:endParaRPr lang="zh-CN" altLang="en-US"/>
          </a:p>
        </p:txBody>
      </p:sp>
      <p:cxnSp>
        <p:nvCxnSpPr>
          <p:cNvPr id="6" name="直接连接符 5"/>
          <p:cNvCxnSpPr/>
          <p:nvPr/>
        </p:nvCxnSpPr>
        <p:spPr>
          <a:xfrm>
            <a:off x="0" y="116214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0B84F68-9456-4561-B6A8-1F8F76D05FF3}"/>
              </a:ext>
            </a:extLst>
          </p:cNvPr>
          <p:cNvSpPr txBox="1"/>
          <p:nvPr/>
        </p:nvSpPr>
        <p:spPr>
          <a:xfrm>
            <a:off x="485029" y="1587160"/>
            <a:ext cx="11479796" cy="523220"/>
          </a:xfrm>
          <a:prstGeom prst="rect">
            <a:avLst/>
          </a:prstGeom>
          <a:noFill/>
        </p:spPr>
        <p:txBody>
          <a:bodyPr wrap="square" rtlCol="0">
            <a:spAutoFit/>
          </a:bodyPr>
          <a:lstStyle/>
          <a:p>
            <a:r>
              <a:rPr lang="zh-CN" altLang="en-US" sz="2800" dirty="0">
                <a:solidFill>
                  <a:schemeClr val="accent2">
                    <a:lumMod val="20000"/>
                    <a:lumOff val="80000"/>
                  </a:schemeClr>
                </a:solidFill>
                <a:latin typeface="Microsoft YaHei UI" panose="020B0503020204020204" pitchFamily="34" charset="-122"/>
                <a:ea typeface="Microsoft YaHei UI" panose="020B0503020204020204" pitchFamily="34" charset="-122"/>
              </a:rPr>
              <a:t>算法流程图（不含按钮控制与转动功能）：</a:t>
            </a:r>
            <a:endParaRPr lang="en-US" altLang="zh-CN" sz="2800" dirty="0">
              <a:solidFill>
                <a:schemeClr val="accent2">
                  <a:lumMod val="20000"/>
                  <a:lumOff val="80000"/>
                </a:schemeClr>
              </a:solidFill>
              <a:latin typeface="Microsoft YaHei UI" panose="020B0503020204020204" pitchFamily="34" charset="-122"/>
              <a:ea typeface="Microsoft YaHei UI" panose="020B0503020204020204" pitchFamily="34" charset="-122"/>
            </a:endParaRPr>
          </a:p>
        </p:txBody>
      </p:sp>
      <p:pic>
        <p:nvPicPr>
          <p:cNvPr id="5" name="图片 4">
            <a:extLst>
              <a:ext uri="{FF2B5EF4-FFF2-40B4-BE49-F238E27FC236}">
                <a16:creationId xmlns:a16="http://schemas.microsoft.com/office/drawing/2014/main" id="{E9789A6F-4107-4806-8A64-485C49EB25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1140" y="1138759"/>
            <a:ext cx="3783278" cy="5612343"/>
          </a:xfrm>
          <a:prstGeom prst="rect">
            <a:avLst/>
          </a:prstGeom>
        </p:spPr>
      </p:pic>
    </p:spTree>
    <p:extLst>
      <p:ext uri="{BB962C8B-B14F-4D97-AF65-F5344CB8AC3E}">
        <p14:creationId xmlns:p14="http://schemas.microsoft.com/office/powerpoint/2010/main" val="3581767450"/>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7589" y="105583"/>
            <a:ext cx="10515600" cy="1325563"/>
          </a:xfrm>
          <a:effectLst/>
        </p:spPr>
        <p:txBody>
          <a:bodyPr>
            <a:normAutofit/>
          </a:bodyPr>
          <a:lstStyle/>
          <a:p>
            <a:pPr algn="l">
              <a:buClrTx/>
              <a:buSzTx/>
              <a:buFontTx/>
            </a:pPr>
            <a:r>
              <a:rPr lang="zh-CN" altLang="en-US" sz="5400" b="1" dirty="0">
                <a:solidFill>
                  <a:schemeClr val="bg1"/>
                </a:solidFill>
                <a:latin typeface="微软雅黑 Light" panose="020B0502040204020203" charset="-122"/>
                <a:ea typeface="微软雅黑 Light" panose="020B0502040204020203" charset="-122"/>
                <a:sym typeface="+mn-ea"/>
              </a:rPr>
              <a:t>进度安排</a:t>
            </a:r>
          </a:p>
        </p:txBody>
      </p:sp>
      <p:cxnSp>
        <p:nvCxnSpPr>
          <p:cNvPr id="6" name="直接连接符 5"/>
          <p:cNvCxnSpPr/>
          <p:nvPr/>
        </p:nvCxnSpPr>
        <p:spPr>
          <a:xfrm>
            <a:off x="0" y="117103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cxnSpLocks/>
            <a:stCxn id="59" idx="2"/>
          </p:cNvCxnSpPr>
          <p:nvPr/>
        </p:nvCxnSpPr>
        <p:spPr>
          <a:xfrm flipH="1">
            <a:off x="2952089" y="2756198"/>
            <a:ext cx="902" cy="740377"/>
          </a:xfrm>
          <a:prstGeom prst="line">
            <a:avLst/>
          </a:prstGeom>
          <a:ln w="19050">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a:cxnSpLocks/>
            <a:endCxn id="60" idx="0"/>
          </p:cNvCxnSpPr>
          <p:nvPr/>
        </p:nvCxnSpPr>
        <p:spPr>
          <a:xfrm flipH="1">
            <a:off x="5243107" y="3777609"/>
            <a:ext cx="636" cy="913902"/>
          </a:xfrm>
          <a:prstGeom prst="line">
            <a:avLst/>
          </a:prstGeom>
          <a:ln w="19050">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59" name="矩形 58"/>
          <p:cNvSpPr/>
          <p:nvPr/>
        </p:nvSpPr>
        <p:spPr>
          <a:xfrm>
            <a:off x="1663306" y="1740535"/>
            <a:ext cx="2579370" cy="1015663"/>
          </a:xfrm>
          <a:prstGeom prst="rect">
            <a:avLst/>
          </a:prstGeom>
        </p:spPr>
        <p:txBody>
          <a:bodyPr wrap="square">
            <a:spAutoFit/>
          </a:bodyPr>
          <a:lstStyle/>
          <a:p>
            <a:r>
              <a:rPr lang="zh-CN" altLang="en-US" sz="2000" b="1" dirty="0">
                <a:solidFill>
                  <a:schemeClr val="accent4">
                    <a:lumMod val="20000"/>
                    <a:lumOff val="80000"/>
                  </a:schemeClr>
                </a:solidFill>
                <a:latin typeface="微软雅黑 Light" panose="020B0502040204020203" charset="-122"/>
                <a:ea typeface="微软雅黑 Light" panose="020B0502040204020203" charset="-122"/>
              </a:rPr>
              <a:t>完成结构设计，打印，固定，组装等操作，开始初步程序设计。</a:t>
            </a:r>
          </a:p>
        </p:txBody>
      </p:sp>
      <p:sp>
        <p:nvSpPr>
          <p:cNvPr id="60" name="矩形 59"/>
          <p:cNvSpPr/>
          <p:nvPr/>
        </p:nvSpPr>
        <p:spPr>
          <a:xfrm>
            <a:off x="4094945" y="4691511"/>
            <a:ext cx="2296323" cy="1015663"/>
          </a:xfrm>
          <a:prstGeom prst="rect">
            <a:avLst/>
          </a:prstGeom>
        </p:spPr>
        <p:txBody>
          <a:bodyPr wrap="square">
            <a:spAutoFit/>
          </a:bodyPr>
          <a:lstStyle/>
          <a:p>
            <a:r>
              <a:rPr lang="zh-CN" altLang="en-US" sz="2000" b="1" dirty="0">
                <a:solidFill>
                  <a:schemeClr val="accent4">
                    <a:lumMod val="20000"/>
                    <a:lumOff val="80000"/>
                  </a:schemeClr>
                </a:solidFill>
                <a:latin typeface="微软雅黑 Light" panose="020B0502040204020203" charset="-122"/>
                <a:ea typeface="微软雅黑 Light" panose="020B0502040204020203" charset="-122"/>
              </a:rPr>
              <a:t>完成程序设计，进行功能验证，完善其他辅助功能。</a:t>
            </a:r>
          </a:p>
        </p:txBody>
      </p:sp>
      <p:sp>
        <p:nvSpPr>
          <p:cNvPr id="61" name="文本框 4"/>
          <p:cNvSpPr txBox="1"/>
          <p:nvPr/>
        </p:nvSpPr>
        <p:spPr>
          <a:xfrm>
            <a:off x="1049088" y="6014952"/>
            <a:ext cx="1262439"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第十一周</a:t>
            </a:r>
          </a:p>
        </p:txBody>
      </p:sp>
      <p:sp>
        <p:nvSpPr>
          <p:cNvPr id="62" name="文本框 10"/>
          <p:cNvSpPr txBox="1"/>
          <p:nvPr/>
        </p:nvSpPr>
        <p:spPr>
          <a:xfrm>
            <a:off x="2512976" y="1281191"/>
            <a:ext cx="1100810"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第十二周</a:t>
            </a:r>
          </a:p>
        </p:txBody>
      </p:sp>
      <p:sp>
        <p:nvSpPr>
          <p:cNvPr id="63" name="矩形 62"/>
          <p:cNvSpPr/>
          <p:nvPr/>
        </p:nvSpPr>
        <p:spPr>
          <a:xfrm>
            <a:off x="406934" y="4626616"/>
            <a:ext cx="2270782" cy="1291590"/>
          </a:xfrm>
          <a:prstGeom prst="rect">
            <a:avLst/>
          </a:prstGeom>
        </p:spPr>
        <p:txBody>
          <a:bodyPr wrap="square">
            <a:spAutoFit/>
          </a:bodyPr>
          <a:lstStyle/>
          <a:p>
            <a:pPr>
              <a:lnSpc>
                <a:spcPct val="130000"/>
              </a:lnSpc>
              <a:spcBef>
                <a:spcPts val="600"/>
              </a:spcBef>
            </a:pPr>
            <a:r>
              <a:rPr lang="zh-CN" altLang="en-US" sz="2000" b="1" dirty="0">
                <a:solidFill>
                  <a:schemeClr val="accent4">
                    <a:lumMod val="20000"/>
                    <a:lumOff val="80000"/>
                  </a:schemeClr>
                </a:solidFill>
                <a:latin typeface="微软雅黑 Light" panose="020B0502040204020203" charset="-122"/>
                <a:ea typeface="微软雅黑 Light" panose="020B0502040204020203" charset="-122"/>
              </a:rPr>
              <a:t>确定整体框架，初步确定实现方案，购买所需组件。</a:t>
            </a:r>
          </a:p>
        </p:txBody>
      </p:sp>
      <p:sp>
        <p:nvSpPr>
          <p:cNvPr id="64" name="文本框 10"/>
          <p:cNvSpPr txBox="1"/>
          <p:nvPr/>
        </p:nvSpPr>
        <p:spPr>
          <a:xfrm>
            <a:off x="4729394" y="6042975"/>
            <a:ext cx="1141370"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第十三周 </a:t>
            </a:r>
          </a:p>
        </p:txBody>
      </p:sp>
      <p:sp>
        <p:nvSpPr>
          <p:cNvPr id="65" name="TextBox 23"/>
          <p:cNvSpPr txBox="1"/>
          <p:nvPr/>
        </p:nvSpPr>
        <p:spPr>
          <a:xfrm>
            <a:off x="6562569" y="1369191"/>
            <a:ext cx="2506619" cy="1291590"/>
          </a:xfrm>
          <a:prstGeom prst="rect">
            <a:avLst/>
          </a:prstGeom>
          <a:noFill/>
        </p:spPr>
        <p:txBody>
          <a:bodyPr wrap="square" rtlCol="0">
            <a:spAutoFit/>
          </a:bodyPr>
          <a:lstStyle/>
          <a:p>
            <a:pPr>
              <a:lnSpc>
                <a:spcPct val="130000"/>
              </a:lnSpc>
              <a:spcBef>
                <a:spcPts val="600"/>
              </a:spcBef>
            </a:pPr>
            <a:r>
              <a:rPr lang="zh-CN" altLang="en-US" sz="2000" b="1" dirty="0">
                <a:solidFill>
                  <a:schemeClr val="accent4">
                    <a:lumMod val="20000"/>
                    <a:lumOff val="80000"/>
                  </a:schemeClr>
                </a:solidFill>
                <a:latin typeface="微软雅黑 Light" panose="020B0502040204020203" charset="-122"/>
                <a:ea typeface="微软雅黑 Light" panose="020B0502040204020203" charset="-122"/>
              </a:rPr>
              <a:t>上传代码后，测试该项目。项目正常运行后，美化外壳。</a:t>
            </a:r>
          </a:p>
        </p:txBody>
      </p:sp>
      <p:cxnSp>
        <p:nvCxnSpPr>
          <p:cNvPr id="66" name="直接连接符 65"/>
          <p:cNvCxnSpPr/>
          <p:nvPr/>
        </p:nvCxnSpPr>
        <p:spPr>
          <a:xfrm flipV="1">
            <a:off x="7815244" y="2786645"/>
            <a:ext cx="0" cy="678447"/>
          </a:xfrm>
          <a:prstGeom prst="line">
            <a:avLst/>
          </a:prstGeom>
          <a:ln w="19050">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endCxn id="63" idx="0"/>
          </p:cNvCxnSpPr>
          <p:nvPr/>
        </p:nvCxnSpPr>
        <p:spPr>
          <a:xfrm>
            <a:off x="1537212" y="3862625"/>
            <a:ext cx="5113" cy="763991"/>
          </a:xfrm>
          <a:prstGeom prst="line">
            <a:avLst/>
          </a:prstGeom>
          <a:ln w="19050">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71" name="文本框 10"/>
          <p:cNvSpPr txBox="1"/>
          <p:nvPr/>
        </p:nvSpPr>
        <p:spPr>
          <a:xfrm>
            <a:off x="7226299" y="1116330"/>
            <a:ext cx="1561465" cy="306705"/>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第十四周</a:t>
            </a:r>
          </a:p>
        </p:txBody>
      </p:sp>
      <p:cxnSp>
        <p:nvCxnSpPr>
          <p:cNvPr id="81" name="直接连接符 80"/>
          <p:cNvCxnSpPr/>
          <p:nvPr/>
        </p:nvCxnSpPr>
        <p:spPr>
          <a:xfrm>
            <a:off x="0" y="1162146"/>
            <a:ext cx="3685309"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140970" y="3637134"/>
            <a:ext cx="12192000"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83" name="组合 82"/>
          <p:cNvGrpSpPr/>
          <p:nvPr/>
        </p:nvGrpSpPr>
        <p:grpSpPr>
          <a:xfrm>
            <a:off x="1398954" y="3496293"/>
            <a:ext cx="281354" cy="281354"/>
            <a:chOff x="1369109" y="2721875"/>
            <a:chExt cx="281354" cy="281354"/>
          </a:xfrm>
        </p:grpSpPr>
        <p:sp>
          <p:nvSpPr>
            <p:cNvPr id="84" name="椭圆 83"/>
            <p:cNvSpPr/>
            <p:nvPr/>
          </p:nvSpPr>
          <p:spPr>
            <a:xfrm>
              <a:off x="1369109" y="2721875"/>
              <a:ext cx="281354" cy="281354"/>
            </a:xfrm>
            <a:prstGeom prst="ellipse">
              <a:avLst/>
            </a:prstGeom>
            <a:solidFill>
              <a:schemeClr val="bg1"/>
            </a:solidFill>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algn="ctr">
                <a:lnSpc>
                  <a:spcPct val="120000"/>
                </a:lnSpc>
              </a:pPr>
              <a:endParaRPr lang="zh-CN" altLang="en-US" sz="2400">
                <a:solidFill>
                  <a:srgbClr val="806D3E"/>
                </a:solidFill>
                <a:latin typeface="微软雅黑" panose="020B0503020204020204" pitchFamily="34" charset="-122"/>
                <a:ea typeface="微软雅黑" panose="020B0503020204020204" pitchFamily="34" charset="-122"/>
              </a:endParaRPr>
            </a:p>
          </p:txBody>
        </p:sp>
        <p:sp>
          <p:nvSpPr>
            <p:cNvPr id="85" name="椭圆 84"/>
            <p:cNvSpPr/>
            <p:nvPr/>
          </p:nvSpPr>
          <p:spPr>
            <a:xfrm>
              <a:off x="1437786" y="2790552"/>
              <a:ext cx="144000" cy="1440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6" name="组合 85"/>
          <p:cNvGrpSpPr/>
          <p:nvPr/>
        </p:nvGrpSpPr>
        <p:grpSpPr>
          <a:xfrm>
            <a:off x="2850704" y="3496255"/>
            <a:ext cx="281354" cy="281354"/>
            <a:chOff x="1369109" y="2721875"/>
            <a:chExt cx="281354" cy="281354"/>
          </a:xfrm>
        </p:grpSpPr>
        <p:sp>
          <p:nvSpPr>
            <p:cNvPr id="87" name="椭圆 86"/>
            <p:cNvSpPr/>
            <p:nvPr/>
          </p:nvSpPr>
          <p:spPr>
            <a:xfrm>
              <a:off x="1369109" y="2721875"/>
              <a:ext cx="281354" cy="281354"/>
            </a:xfrm>
            <a:prstGeom prst="ellipse">
              <a:avLst/>
            </a:prstGeom>
            <a:solidFill>
              <a:schemeClr val="bg1"/>
            </a:solidFill>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algn="ctr">
                <a:lnSpc>
                  <a:spcPct val="120000"/>
                </a:lnSpc>
              </a:pPr>
              <a:endParaRPr lang="zh-CN" altLang="en-US" sz="2400">
                <a:solidFill>
                  <a:srgbClr val="806D3E"/>
                </a:solidFill>
                <a:latin typeface="微软雅黑" panose="020B0503020204020204" pitchFamily="34" charset="-122"/>
                <a:ea typeface="微软雅黑" panose="020B0503020204020204" pitchFamily="34" charset="-122"/>
              </a:endParaRPr>
            </a:p>
          </p:txBody>
        </p:sp>
        <p:sp>
          <p:nvSpPr>
            <p:cNvPr id="88" name="椭圆 87"/>
            <p:cNvSpPr/>
            <p:nvPr/>
          </p:nvSpPr>
          <p:spPr>
            <a:xfrm>
              <a:off x="1437786" y="2790552"/>
              <a:ext cx="144000" cy="1440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89" name="组合 88"/>
          <p:cNvGrpSpPr/>
          <p:nvPr/>
        </p:nvGrpSpPr>
        <p:grpSpPr>
          <a:xfrm>
            <a:off x="5087402" y="3518090"/>
            <a:ext cx="281354" cy="281354"/>
            <a:chOff x="1369109" y="2721875"/>
            <a:chExt cx="281354" cy="281354"/>
          </a:xfrm>
        </p:grpSpPr>
        <p:sp>
          <p:nvSpPr>
            <p:cNvPr id="90" name="椭圆 89"/>
            <p:cNvSpPr/>
            <p:nvPr/>
          </p:nvSpPr>
          <p:spPr>
            <a:xfrm>
              <a:off x="1369109" y="2721875"/>
              <a:ext cx="281354" cy="281354"/>
            </a:xfrm>
            <a:prstGeom prst="ellipse">
              <a:avLst/>
            </a:prstGeom>
            <a:solidFill>
              <a:schemeClr val="bg1"/>
            </a:solidFill>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algn="ctr">
                <a:lnSpc>
                  <a:spcPct val="120000"/>
                </a:lnSpc>
              </a:pPr>
              <a:endParaRPr lang="zh-CN" altLang="en-US" sz="2400">
                <a:solidFill>
                  <a:srgbClr val="806D3E"/>
                </a:solidFill>
                <a:latin typeface="微软雅黑" panose="020B0503020204020204" pitchFamily="34" charset="-122"/>
                <a:ea typeface="微软雅黑" panose="020B0503020204020204" pitchFamily="34" charset="-122"/>
              </a:endParaRPr>
            </a:p>
          </p:txBody>
        </p:sp>
        <p:sp>
          <p:nvSpPr>
            <p:cNvPr id="91" name="椭圆 90"/>
            <p:cNvSpPr/>
            <p:nvPr/>
          </p:nvSpPr>
          <p:spPr>
            <a:xfrm>
              <a:off x="1437786" y="2790552"/>
              <a:ext cx="144000" cy="1440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92" name="组合 91"/>
          <p:cNvGrpSpPr/>
          <p:nvPr/>
        </p:nvGrpSpPr>
        <p:grpSpPr>
          <a:xfrm>
            <a:off x="7675505" y="3503342"/>
            <a:ext cx="281354" cy="281354"/>
            <a:chOff x="1369109" y="2721875"/>
            <a:chExt cx="281354" cy="281354"/>
          </a:xfrm>
        </p:grpSpPr>
        <p:sp>
          <p:nvSpPr>
            <p:cNvPr id="93" name="椭圆 92"/>
            <p:cNvSpPr/>
            <p:nvPr/>
          </p:nvSpPr>
          <p:spPr>
            <a:xfrm>
              <a:off x="1369109" y="2721875"/>
              <a:ext cx="281354" cy="281354"/>
            </a:xfrm>
            <a:prstGeom prst="ellipse">
              <a:avLst/>
            </a:prstGeom>
            <a:solidFill>
              <a:schemeClr val="bg1"/>
            </a:solidFill>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algn="ctr">
                <a:lnSpc>
                  <a:spcPct val="120000"/>
                </a:lnSpc>
              </a:pPr>
              <a:endParaRPr lang="zh-CN" altLang="en-US" sz="2400">
                <a:solidFill>
                  <a:srgbClr val="806D3E"/>
                </a:solidFill>
                <a:latin typeface="微软雅黑" panose="020B0503020204020204" pitchFamily="34" charset="-122"/>
                <a:ea typeface="微软雅黑" panose="020B0503020204020204" pitchFamily="34" charset="-122"/>
              </a:endParaRPr>
            </a:p>
          </p:txBody>
        </p:sp>
        <p:sp>
          <p:nvSpPr>
            <p:cNvPr id="94" name="椭圆 93"/>
            <p:cNvSpPr/>
            <p:nvPr/>
          </p:nvSpPr>
          <p:spPr>
            <a:xfrm>
              <a:off x="1437786" y="2790552"/>
              <a:ext cx="144000" cy="1440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31" name="文本框 30">
            <a:extLst>
              <a:ext uri="{FF2B5EF4-FFF2-40B4-BE49-F238E27FC236}">
                <a16:creationId xmlns:a16="http://schemas.microsoft.com/office/drawing/2014/main" id="{5B6F5A52-0B9D-42C1-B2AC-CE467D7E0EDD}"/>
              </a:ext>
            </a:extLst>
          </p:cNvPr>
          <p:cNvSpPr txBox="1"/>
          <p:nvPr/>
        </p:nvSpPr>
        <p:spPr>
          <a:xfrm>
            <a:off x="411356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grpSp>
        <p:nvGrpSpPr>
          <p:cNvPr id="35" name="组合 34">
            <a:extLst>
              <a:ext uri="{FF2B5EF4-FFF2-40B4-BE49-F238E27FC236}">
                <a16:creationId xmlns:a16="http://schemas.microsoft.com/office/drawing/2014/main" id="{1E96994C-6D9E-4D86-A3D6-F17C25682D65}"/>
              </a:ext>
            </a:extLst>
          </p:cNvPr>
          <p:cNvGrpSpPr/>
          <p:nvPr/>
        </p:nvGrpSpPr>
        <p:grpSpPr>
          <a:xfrm>
            <a:off x="10172895" y="3493514"/>
            <a:ext cx="281354" cy="281354"/>
            <a:chOff x="1369109" y="2721875"/>
            <a:chExt cx="281354" cy="281354"/>
          </a:xfrm>
        </p:grpSpPr>
        <p:sp>
          <p:nvSpPr>
            <p:cNvPr id="36" name="椭圆 35">
              <a:extLst>
                <a:ext uri="{FF2B5EF4-FFF2-40B4-BE49-F238E27FC236}">
                  <a16:creationId xmlns:a16="http://schemas.microsoft.com/office/drawing/2014/main" id="{AC0CFF95-0B37-439A-ABDD-5075867EDC04}"/>
                </a:ext>
              </a:extLst>
            </p:cNvPr>
            <p:cNvSpPr/>
            <p:nvPr/>
          </p:nvSpPr>
          <p:spPr>
            <a:xfrm>
              <a:off x="1369109" y="2721875"/>
              <a:ext cx="281354" cy="281354"/>
            </a:xfrm>
            <a:prstGeom prst="ellipse">
              <a:avLst/>
            </a:prstGeom>
            <a:solidFill>
              <a:schemeClr val="bg1"/>
            </a:solidFill>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algn="ctr">
                <a:lnSpc>
                  <a:spcPct val="120000"/>
                </a:lnSpc>
              </a:pPr>
              <a:endParaRPr lang="zh-CN" altLang="en-US" sz="2400">
                <a:solidFill>
                  <a:srgbClr val="806D3E"/>
                </a:solidFill>
                <a:latin typeface="微软雅黑" panose="020B0503020204020204" pitchFamily="34" charset="-122"/>
                <a:ea typeface="微软雅黑" panose="020B0503020204020204" pitchFamily="34" charset="-122"/>
              </a:endParaRPr>
            </a:p>
          </p:txBody>
        </p:sp>
        <p:sp>
          <p:nvSpPr>
            <p:cNvPr id="37" name="椭圆 36">
              <a:extLst>
                <a:ext uri="{FF2B5EF4-FFF2-40B4-BE49-F238E27FC236}">
                  <a16:creationId xmlns:a16="http://schemas.microsoft.com/office/drawing/2014/main" id="{CC06C816-5B4D-4C63-8F3D-B316AA7BFE6C}"/>
                </a:ext>
              </a:extLst>
            </p:cNvPr>
            <p:cNvSpPr/>
            <p:nvPr/>
          </p:nvSpPr>
          <p:spPr>
            <a:xfrm>
              <a:off x="1437786" y="2790552"/>
              <a:ext cx="144000" cy="144000"/>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cxnSp>
        <p:nvCxnSpPr>
          <p:cNvPr id="38" name="直接连接符 37">
            <a:extLst>
              <a:ext uri="{FF2B5EF4-FFF2-40B4-BE49-F238E27FC236}">
                <a16:creationId xmlns:a16="http://schemas.microsoft.com/office/drawing/2014/main" id="{87A751E3-C62B-4A7C-8AA4-22E05001126B}"/>
              </a:ext>
            </a:extLst>
          </p:cNvPr>
          <p:cNvCxnSpPr>
            <a:cxnSpLocks/>
            <a:endCxn id="39" idx="0"/>
          </p:cNvCxnSpPr>
          <p:nvPr/>
        </p:nvCxnSpPr>
        <p:spPr>
          <a:xfrm flipH="1">
            <a:off x="10300564" y="3768642"/>
            <a:ext cx="636" cy="913902"/>
          </a:xfrm>
          <a:prstGeom prst="line">
            <a:avLst/>
          </a:prstGeom>
          <a:ln w="19050">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58A9E015-C266-436F-AC4B-56DDE4F98671}"/>
              </a:ext>
            </a:extLst>
          </p:cNvPr>
          <p:cNvSpPr/>
          <p:nvPr/>
        </p:nvSpPr>
        <p:spPr>
          <a:xfrm>
            <a:off x="9152402" y="4682544"/>
            <a:ext cx="2296323" cy="1015663"/>
          </a:xfrm>
          <a:prstGeom prst="rect">
            <a:avLst/>
          </a:prstGeom>
        </p:spPr>
        <p:txBody>
          <a:bodyPr wrap="square">
            <a:spAutoFit/>
          </a:bodyPr>
          <a:lstStyle/>
          <a:p>
            <a:r>
              <a:rPr lang="zh-CN" altLang="en-US" sz="2000" b="1" dirty="0">
                <a:solidFill>
                  <a:schemeClr val="accent4">
                    <a:lumMod val="20000"/>
                    <a:lumOff val="80000"/>
                  </a:schemeClr>
                </a:solidFill>
                <a:latin typeface="微软雅黑 Light" panose="020B0502040204020203" charset="-122"/>
                <a:ea typeface="微软雅黑 Light" panose="020B0502040204020203" charset="-122"/>
              </a:rPr>
              <a:t>准备项目答辩展示所需材料，制作</a:t>
            </a:r>
            <a:r>
              <a:rPr lang="en-US" altLang="zh-CN" sz="2000" b="1" dirty="0">
                <a:solidFill>
                  <a:schemeClr val="accent4">
                    <a:lumMod val="20000"/>
                    <a:lumOff val="80000"/>
                  </a:schemeClr>
                </a:solidFill>
                <a:latin typeface="微软雅黑 Light" panose="020B0502040204020203" charset="-122"/>
                <a:ea typeface="微软雅黑 Light" panose="020B0502040204020203" charset="-122"/>
              </a:rPr>
              <a:t>PPT</a:t>
            </a:r>
            <a:r>
              <a:rPr lang="zh-CN" altLang="en-US" sz="2000" b="1" dirty="0">
                <a:solidFill>
                  <a:schemeClr val="accent4">
                    <a:lumMod val="20000"/>
                    <a:lumOff val="80000"/>
                  </a:schemeClr>
                </a:solidFill>
                <a:latin typeface="微软雅黑 Light" panose="020B0502040204020203" charset="-122"/>
                <a:ea typeface="微软雅黑 Light" panose="020B0502040204020203" charset="-122"/>
              </a:rPr>
              <a:t>和演示视频。</a:t>
            </a:r>
          </a:p>
        </p:txBody>
      </p:sp>
      <p:sp>
        <p:nvSpPr>
          <p:cNvPr id="40" name="文本框 10">
            <a:extLst>
              <a:ext uri="{FF2B5EF4-FFF2-40B4-BE49-F238E27FC236}">
                <a16:creationId xmlns:a16="http://schemas.microsoft.com/office/drawing/2014/main" id="{67D2181E-A028-43BA-A0AF-B2AA126E586E}"/>
              </a:ext>
            </a:extLst>
          </p:cNvPr>
          <p:cNvSpPr txBox="1"/>
          <p:nvPr/>
        </p:nvSpPr>
        <p:spPr>
          <a:xfrm>
            <a:off x="9903932" y="6005986"/>
            <a:ext cx="949257" cy="307777"/>
          </a:xfrm>
          <a:prstGeom prst="rect">
            <a:avLst/>
          </a:prstGeom>
          <a:noFill/>
        </p:spPr>
        <p:txBody>
          <a:bodyPr wrap="square"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第十五周 </a:t>
            </a:r>
          </a:p>
        </p:txBody>
      </p:sp>
    </p:spTree>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7589" y="105583"/>
            <a:ext cx="10515600" cy="1325563"/>
          </a:xfrm>
          <a:effectLst/>
        </p:spPr>
        <p:txBody>
          <a:bodyPr>
            <a:normAutofit/>
          </a:bodyPr>
          <a:lstStyle/>
          <a:p>
            <a:pPr algn="l">
              <a:buClrTx/>
              <a:buSzTx/>
              <a:buFontTx/>
            </a:pPr>
            <a:r>
              <a:rPr lang="zh-CN" altLang="en-US" b="1" dirty="0">
                <a:solidFill>
                  <a:schemeClr val="bg1"/>
                </a:solidFill>
                <a:latin typeface="微软雅黑 Light" panose="020B0502040204020203" charset="-122"/>
                <a:ea typeface="微软雅黑 Light" panose="020B0502040204020203" charset="-122"/>
                <a:sym typeface="+mn-ea"/>
              </a:rPr>
              <a:t>六、人员分工</a:t>
            </a:r>
          </a:p>
        </p:txBody>
      </p:sp>
      <p:cxnSp>
        <p:nvCxnSpPr>
          <p:cNvPr id="6" name="直接连接符 5"/>
          <p:cNvCxnSpPr/>
          <p:nvPr/>
        </p:nvCxnSpPr>
        <p:spPr>
          <a:xfrm>
            <a:off x="0" y="117103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0" y="1162146"/>
            <a:ext cx="3685309"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411356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sp>
        <p:nvSpPr>
          <p:cNvPr id="3" name="文本框 2"/>
          <p:cNvSpPr txBox="1"/>
          <p:nvPr/>
        </p:nvSpPr>
        <p:spPr>
          <a:xfrm>
            <a:off x="683260" y="1495425"/>
            <a:ext cx="9444355" cy="5078313"/>
          </a:xfrm>
          <a:prstGeom prst="rect">
            <a:avLst/>
          </a:prstGeom>
          <a:noFill/>
        </p:spPr>
        <p:txBody>
          <a:bodyPr wrap="square" rtlCol="0">
            <a:spAutoFit/>
          </a:bodyPr>
          <a:lstStyle/>
          <a:p>
            <a:r>
              <a:rPr lang="zh-CN" altLang="zh-CN" sz="3200" dirty="0">
                <a:solidFill>
                  <a:schemeClr val="accent4"/>
                </a:solidFill>
                <a:latin typeface="+mj-ea"/>
                <a:ea typeface="+mj-ea"/>
              </a:rPr>
              <a:t>拟定框架</a:t>
            </a:r>
            <a:r>
              <a:rPr lang="en-US" altLang="zh-CN" sz="3200" dirty="0">
                <a:solidFill>
                  <a:schemeClr val="accent4"/>
                </a:solidFill>
                <a:latin typeface="+mj-ea"/>
                <a:ea typeface="+mj-ea"/>
              </a:rPr>
              <a:t>+</a:t>
            </a:r>
            <a:r>
              <a:rPr lang="zh-CN" altLang="zh-CN" sz="3200" dirty="0">
                <a:solidFill>
                  <a:schemeClr val="accent4"/>
                </a:solidFill>
                <a:latin typeface="+mj-ea"/>
                <a:ea typeface="+mj-ea"/>
              </a:rPr>
              <a:t>确定方案：</a:t>
            </a:r>
            <a:r>
              <a:rPr lang="zh-CN" altLang="zh-CN" sz="2800" dirty="0">
                <a:solidFill>
                  <a:schemeClr val="bg1"/>
                </a:solidFill>
                <a:latin typeface="+mj-ea"/>
                <a:ea typeface="+mj-ea"/>
              </a:rPr>
              <a:t>刘涵之、夏咏、刘毅、高元昊</a:t>
            </a:r>
          </a:p>
          <a:p>
            <a:r>
              <a:rPr lang="zh-CN" altLang="zh-CN" sz="3200" dirty="0">
                <a:solidFill>
                  <a:schemeClr val="accent4"/>
                </a:solidFill>
                <a:latin typeface="+mj-ea"/>
                <a:ea typeface="+mj-ea"/>
              </a:rPr>
              <a:t>购买组件：</a:t>
            </a:r>
            <a:r>
              <a:rPr lang="zh-CN" altLang="zh-CN" sz="2800" dirty="0">
                <a:solidFill>
                  <a:schemeClr val="bg1"/>
                </a:solidFill>
                <a:latin typeface="+mj-ea"/>
                <a:ea typeface="+mj-ea"/>
              </a:rPr>
              <a:t>刘毅、高元昊</a:t>
            </a:r>
          </a:p>
          <a:p>
            <a:r>
              <a:rPr lang="zh-CN" altLang="zh-CN" sz="3200" dirty="0">
                <a:solidFill>
                  <a:schemeClr val="accent4"/>
                </a:solidFill>
                <a:latin typeface="+mj-ea"/>
                <a:ea typeface="+mj-ea"/>
              </a:rPr>
              <a:t>初步程序设计：</a:t>
            </a:r>
            <a:r>
              <a:rPr lang="zh-CN" altLang="zh-CN" sz="2800" dirty="0">
                <a:solidFill>
                  <a:schemeClr val="bg1"/>
                </a:solidFill>
                <a:latin typeface="+mj-ea"/>
                <a:ea typeface="+mj-ea"/>
              </a:rPr>
              <a:t>刘涵之</a:t>
            </a:r>
          </a:p>
          <a:p>
            <a:r>
              <a:rPr lang="zh-CN" altLang="zh-CN" sz="3200" dirty="0">
                <a:solidFill>
                  <a:schemeClr val="accent4"/>
                </a:solidFill>
                <a:latin typeface="+mj-ea"/>
                <a:ea typeface="+mj-ea"/>
              </a:rPr>
              <a:t>结构设计：</a:t>
            </a:r>
            <a:r>
              <a:rPr lang="zh-CN" altLang="zh-CN" sz="2800" dirty="0">
                <a:solidFill>
                  <a:schemeClr val="bg1"/>
                </a:solidFill>
                <a:latin typeface="+mj-ea"/>
                <a:ea typeface="+mj-ea"/>
              </a:rPr>
              <a:t>夏咏</a:t>
            </a:r>
          </a:p>
          <a:p>
            <a:r>
              <a:rPr lang="zh-CN" altLang="zh-CN" sz="3200" dirty="0">
                <a:solidFill>
                  <a:schemeClr val="accent4"/>
                </a:solidFill>
                <a:latin typeface="+mj-ea"/>
                <a:ea typeface="+mj-ea"/>
              </a:rPr>
              <a:t>打印：</a:t>
            </a:r>
            <a:r>
              <a:rPr lang="zh-CN" altLang="zh-CN" sz="2800" dirty="0">
                <a:solidFill>
                  <a:schemeClr val="bg1"/>
                </a:solidFill>
                <a:latin typeface="+mj-ea"/>
                <a:ea typeface="+mj-ea"/>
              </a:rPr>
              <a:t>刘毅</a:t>
            </a:r>
          </a:p>
          <a:p>
            <a:r>
              <a:rPr lang="zh-CN" altLang="zh-CN" sz="3200" dirty="0">
                <a:solidFill>
                  <a:schemeClr val="accent4"/>
                </a:solidFill>
                <a:latin typeface="+mj-ea"/>
                <a:ea typeface="+mj-ea"/>
              </a:rPr>
              <a:t>组装：</a:t>
            </a:r>
            <a:r>
              <a:rPr lang="zh-CN" altLang="zh-CN" sz="2800" dirty="0">
                <a:solidFill>
                  <a:schemeClr val="bg1"/>
                </a:solidFill>
                <a:latin typeface="+mj-ea"/>
                <a:ea typeface="+mj-ea"/>
              </a:rPr>
              <a:t>高元昊</a:t>
            </a:r>
          </a:p>
          <a:p>
            <a:r>
              <a:rPr lang="zh-CN" altLang="zh-CN" sz="3200" dirty="0">
                <a:solidFill>
                  <a:schemeClr val="accent4"/>
                </a:solidFill>
                <a:latin typeface="+mj-ea"/>
                <a:ea typeface="+mj-ea"/>
              </a:rPr>
              <a:t>完成程序设计</a:t>
            </a:r>
            <a:r>
              <a:rPr lang="en-US" altLang="zh-CN" sz="3200" dirty="0">
                <a:solidFill>
                  <a:schemeClr val="accent4"/>
                </a:solidFill>
                <a:latin typeface="+mj-ea"/>
                <a:ea typeface="+mj-ea"/>
              </a:rPr>
              <a:t>+</a:t>
            </a:r>
            <a:r>
              <a:rPr lang="zh-CN" altLang="zh-CN" sz="3200" dirty="0">
                <a:solidFill>
                  <a:schemeClr val="accent4"/>
                </a:solidFill>
                <a:latin typeface="+mj-ea"/>
                <a:ea typeface="+mj-ea"/>
              </a:rPr>
              <a:t>功能验证：</a:t>
            </a:r>
            <a:r>
              <a:rPr lang="zh-CN" altLang="zh-CN" sz="2800" dirty="0">
                <a:solidFill>
                  <a:schemeClr val="bg1"/>
                </a:solidFill>
                <a:latin typeface="+mj-ea"/>
                <a:ea typeface="+mj-ea"/>
              </a:rPr>
              <a:t>刘涵之、高元昊</a:t>
            </a:r>
          </a:p>
          <a:p>
            <a:r>
              <a:rPr lang="zh-CN" altLang="zh-CN" sz="3200" dirty="0">
                <a:solidFill>
                  <a:schemeClr val="accent4"/>
                </a:solidFill>
                <a:latin typeface="+mj-ea"/>
                <a:ea typeface="+mj-ea"/>
              </a:rPr>
              <a:t>完善辅助功能：</a:t>
            </a:r>
            <a:r>
              <a:rPr lang="zh-CN" altLang="zh-CN" sz="2800" dirty="0">
                <a:solidFill>
                  <a:schemeClr val="bg1"/>
                </a:solidFill>
                <a:latin typeface="+mj-ea"/>
                <a:ea typeface="+mj-ea"/>
              </a:rPr>
              <a:t>刘毅、夏咏</a:t>
            </a:r>
          </a:p>
          <a:p>
            <a:r>
              <a:rPr lang="zh-CN" altLang="zh-CN" sz="3200" dirty="0">
                <a:solidFill>
                  <a:schemeClr val="accent4"/>
                </a:solidFill>
                <a:latin typeface="+mj-ea"/>
                <a:ea typeface="+mj-ea"/>
              </a:rPr>
              <a:t>测试代码：</a:t>
            </a:r>
            <a:r>
              <a:rPr lang="zh-CN" altLang="zh-CN" sz="2800" dirty="0">
                <a:solidFill>
                  <a:schemeClr val="bg1"/>
                </a:solidFill>
                <a:latin typeface="+mj-ea"/>
                <a:ea typeface="+mj-ea"/>
              </a:rPr>
              <a:t>刘涵之，高元昊</a:t>
            </a:r>
          </a:p>
          <a:p>
            <a:r>
              <a:rPr lang="zh-CN" altLang="zh-CN" sz="3200" dirty="0">
                <a:solidFill>
                  <a:schemeClr val="accent4"/>
                </a:solidFill>
                <a:latin typeface="+mj-ea"/>
                <a:ea typeface="+mj-ea"/>
              </a:rPr>
              <a:t>美化外壳：</a:t>
            </a:r>
            <a:r>
              <a:rPr lang="zh-CN" altLang="zh-CN" sz="2800" dirty="0">
                <a:solidFill>
                  <a:schemeClr val="bg1"/>
                </a:solidFill>
                <a:latin typeface="+mj-ea"/>
                <a:ea typeface="+mj-ea"/>
              </a:rPr>
              <a:t>刘毅、夏咏</a:t>
            </a:r>
            <a:endParaRPr lang="zh-CN" altLang="en-US" sz="2800" dirty="0">
              <a:solidFill>
                <a:schemeClr val="bg1"/>
              </a:solidFill>
              <a:latin typeface="+mj-ea"/>
              <a:ea typeface="+mj-ea"/>
            </a:endParaRPr>
          </a:p>
        </p:txBody>
      </p:sp>
    </p:spTree>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1162146"/>
            <a:ext cx="8227389"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标题 1">
            <a:extLst>
              <a:ext uri="{FF2B5EF4-FFF2-40B4-BE49-F238E27FC236}">
                <a16:creationId xmlns:a16="http://schemas.microsoft.com/office/drawing/2014/main" id="{E42EA9FF-8CE1-4C3C-90BA-E69E0F04A874}"/>
              </a:ext>
            </a:extLst>
          </p:cNvPr>
          <p:cNvSpPr>
            <a:spLocks noGrp="1"/>
          </p:cNvSpPr>
          <p:nvPr>
            <p:ph type="title"/>
          </p:nvPr>
        </p:nvSpPr>
        <p:spPr>
          <a:xfrm>
            <a:off x="309880" y="151765"/>
            <a:ext cx="10515600" cy="1325563"/>
          </a:xfrm>
          <a:effectLst/>
        </p:spPr>
        <p:txBody>
          <a:bodyPr>
            <a:normAutofit/>
          </a:bodyPr>
          <a:lstStyle/>
          <a:p>
            <a:r>
              <a:rPr lang="zh-CN" altLang="en-US" sz="5400" b="1" dirty="0">
                <a:solidFill>
                  <a:schemeClr val="bg1"/>
                </a:solidFill>
                <a:latin typeface="微软雅黑 Light" panose="020B0502040204020203" charset="-122"/>
                <a:ea typeface="微软雅黑 Light" panose="020B0502040204020203" charset="-122"/>
              </a:rPr>
              <a:t>经费使用</a:t>
            </a:r>
            <a:endPar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6" name="文本框 5">
            <a:extLst>
              <a:ext uri="{FF2B5EF4-FFF2-40B4-BE49-F238E27FC236}">
                <a16:creationId xmlns:a16="http://schemas.microsoft.com/office/drawing/2014/main" id="{D69CA85D-38D4-493E-908D-F2DA6CA27597}"/>
              </a:ext>
            </a:extLst>
          </p:cNvPr>
          <p:cNvSpPr txBox="1"/>
          <p:nvPr/>
        </p:nvSpPr>
        <p:spPr>
          <a:xfrm>
            <a:off x="411356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graphicFrame>
        <p:nvGraphicFramePr>
          <p:cNvPr id="7" name="表格 6">
            <a:extLst>
              <a:ext uri="{FF2B5EF4-FFF2-40B4-BE49-F238E27FC236}">
                <a16:creationId xmlns:a16="http://schemas.microsoft.com/office/drawing/2014/main" id="{0DA84819-D1F4-4234-9073-647533DA91EE}"/>
              </a:ext>
            </a:extLst>
          </p:cNvPr>
          <p:cNvGraphicFramePr>
            <a:graphicFrameLocks noGrp="1"/>
          </p:cNvGraphicFramePr>
          <p:nvPr>
            <p:extLst>
              <p:ext uri="{D42A27DB-BD31-4B8C-83A1-F6EECF244321}">
                <p14:modId xmlns:p14="http://schemas.microsoft.com/office/powerpoint/2010/main" val="2794382112"/>
              </p:ext>
            </p:extLst>
          </p:nvPr>
        </p:nvGraphicFramePr>
        <p:xfrm>
          <a:off x="1444471" y="1294748"/>
          <a:ext cx="8947354" cy="5253523"/>
        </p:xfrm>
        <a:graphic>
          <a:graphicData uri="http://schemas.openxmlformats.org/drawingml/2006/table">
            <a:tbl>
              <a:tblPr firstRow="1" firstCol="1" bandRow="1">
                <a:tableStyleId>{5C22544A-7EE6-4342-B048-85BDC9FD1C3A}</a:tableStyleId>
              </a:tblPr>
              <a:tblGrid>
                <a:gridCol w="4422730">
                  <a:extLst>
                    <a:ext uri="{9D8B030D-6E8A-4147-A177-3AD203B41FA5}">
                      <a16:colId xmlns:a16="http://schemas.microsoft.com/office/drawing/2014/main" val="1044792940"/>
                    </a:ext>
                  </a:extLst>
                </a:gridCol>
                <a:gridCol w="1594842">
                  <a:extLst>
                    <a:ext uri="{9D8B030D-6E8A-4147-A177-3AD203B41FA5}">
                      <a16:colId xmlns:a16="http://schemas.microsoft.com/office/drawing/2014/main" val="13005681"/>
                    </a:ext>
                  </a:extLst>
                </a:gridCol>
                <a:gridCol w="1464891">
                  <a:extLst>
                    <a:ext uri="{9D8B030D-6E8A-4147-A177-3AD203B41FA5}">
                      <a16:colId xmlns:a16="http://schemas.microsoft.com/office/drawing/2014/main" val="3258315886"/>
                    </a:ext>
                  </a:extLst>
                </a:gridCol>
                <a:gridCol w="1464891">
                  <a:extLst>
                    <a:ext uri="{9D8B030D-6E8A-4147-A177-3AD203B41FA5}">
                      <a16:colId xmlns:a16="http://schemas.microsoft.com/office/drawing/2014/main" val="4183281057"/>
                    </a:ext>
                  </a:extLst>
                </a:gridCol>
              </a:tblGrid>
              <a:tr h="958176">
                <a:tc>
                  <a:txBody>
                    <a:bodyPr/>
                    <a:lstStyle/>
                    <a:p>
                      <a:pPr algn="ctr">
                        <a:lnSpc>
                          <a:spcPts val="1500"/>
                        </a:lnSpc>
                        <a:spcBef>
                          <a:spcPts val="240"/>
                        </a:spcBef>
                        <a:spcAft>
                          <a:spcPts val="0"/>
                        </a:spcAft>
                      </a:pPr>
                      <a:r>
                        <a:rPr lang="zh-CN" sz="2400" b="0" kern="100" dirty="0">
                          <a:effectLst/>
                          <a:latin typeface="Times New Roman" panose="02020603050405020304" pitchFamily="18" charset="0"/>
                          <a:ea typeface="+mj-ea"/>
                          <a:cs typeface="Times New Roman" panose="02020603050405020304" pitchFamily="18" charset="0"/>
                        </a:rPr>
                        <a:t>材料名称</a:t>
                      </a:r>
                    </a:p>
                  </a:txBody>
                  <a:tcPr marL="68580" marR="68580" marT="0" marB="0" anchor="ctr"/>
                </a:tc>
                <a:tc>
                  <a:txBody>
                    <a:bodyPr/>
                    <a:lstStyle/>
                    <a:p>
                      <a:pPr algn="ctr">
                        <a:lnSpc>
                          <a:spcPts val="1500"/>
                        </a:lnSpc>
                        <a:spcBef>
                          <a:spcPts val="240"/>
                        </a:spcBef>
                        <a:spcAft>
                          <a:spcPts val="0"/>
                        </a:spcAft>
                      </a:pPr>
                      <a:r>
                        <a:rPr lang="zh-CN" sz="2400" b="0" kern="100" dirty="0">
                          <a:effectLst/>
                          <a:latin typeface="Times New Roman" panose="02020603050405020304" pitchFamily="18" charset="0"/>
                          <a:ea typeface="+mj-ea"/>
                          <a:cs typeface="Times New Roman" panose="02020603050405020304" pitchFamily="18" charset="0"/>
                        </a:rPr>
                        <a:t>单价</a:t>
                      </a:r>
                      <a:r>
                        <a:rPr lang="en-US" sz="2400" b="0" kern="100" dirty="0">
                          <a:effectLst/>
                          <a:latin typeface="Times New Roman" panose="02020603050405020304" pitchFamily="18" charset="0"/>
                          <a:ea typeface="+mj-ea"/>
                          <a:cs typeface="Times New Roman" panose="02020603050405020304" pitchFamily="18" charset="0"/>
                        </a:rPr>
                        <a:t>/</a:t>
                      </a:r>
                      <a:r>
                        <a:rPr lang="zh-CN" sz="2400" b="0" kern="100" dirty="0">
                          <a:effectLst/>
                          <a:latin typeface="Times New Roman" panose="02020603050405020304" pitchFamily="18" charset="0"/>
                          <a:ea typeface="+mj-ea"/>
                          <a:cs typeface="Times New Roman" panose="02020603050405020304" pitchFamily="18" charset="0"/>
                        </a:rPr>
                        <a:t>元</a:t>
                      </a:r>
                    </a:p>
                  </a:txBody>
                  <a:tcPr marL="68580" marR="68580" marT="0" marB="0" anchor="ctr"/>
                </a:tc>
                <a:tc>
                  <a:txBody>
                    <a:bodyPr/>
                    <a:lstStyle/>
                    <a:p>
                      <a:pPr algn="ctr">
                        <a:lnSpc>
                          <a:spcPts val="1500"/>
                        </a:lnSpc>
                        <a:spcBef>
                          <a:spcPts val="240"/>
                        </a:spcBef>
                        <a:spcAft>
                          <a:spcPts val="0"/>
                        </a:spcAft>
                      </a:pPr>
                      <a:r>
                        <a:rPr lang="zh-CN" sz="2400" b="0" kern="100">
                          <a:effectLst/>
                          <a:latin typeface="Times New Roman" panose="02020603050405020304" pitchFamily="18" charset="0"/>
                          <a:ea typeface="+mj-ea"/>
                          <a:cs typeface="Times New Roman" panose="02020603050405020304" pitchFamily="18" charset="0"/>
                        </a:rPr>
                        <a:t>数量</a:t>
                      </a:r>
                    </a:p>
                  </a:txBody>
                  <a:tcPr marL="68580" marR="68580" marT="0" marB="0" anchor="ctr"/>
                </a:tc>
                <a:tc>
                  <a:txBody>
                    <a:bodyPr/>
                    <a:lstStyle/>
                    <a:p>
                      <a:pPr algn="ctr">
                        <a:lnSpc>
                          <a:spcPts val="1500"/>
                        </a:lnSpc>
                        <a:spcBef>
                          <a:spcPts val="240"/>
                        </a:spcBef>
                        <a:spcAft>
                          <a:spcPts val="0"/>
                        </a:spcAft>
                      </a:pPr>
                      <a:r>
                        <a:rPr lang="zh-CN" sz="2400" b="0" kern="100" dirty="0">
                          <a:effectLst/>
                          <a:latin typeface="Times New Roman" panose="02020603050405020304" pitchFamily="18" charset="0"/>
                          <a:ea typeface="+mj-ea"/>
                          <a:cs typeface="Times New Roman" panose="02020603050405020304" pitchFamily="18" charset="0"/>
                        </a:rPr>
                        <a:t>总价</a:t>
                      </a:r>
                      <a:r>
                        <a:rPr lang="en-US" sz="2400" b="0" kern="100" dirty="0">
                          <a:effectLst/>
                          <a:latin typeface="Times New Roman" panose="02020603050405020304" pitchFamily="18" charset="0"/>
                          <a:ea typeface="+mj-ea"/>
                          <a:cs typeface="Times New Roman" panose="02020603050405020304" pitchFamily="18" charset="0"/>
                        </a:rPr>
                        <a:t>/</a:t>
                      </a:r>
                      <a:r>
                        <a:rPr lang="zh-CN" sz="2400" b="0" kern="100" dirty="0">
                          <a:effectLst/>
                          <a:latin typeface="Times New Roman" panose="02020603050405020304" pitchFamily="18" charset="0"/>
                          <a:ea typeface="+mj-ea"/>
                          <a:cs typeface="Times New Roman" panose="02020603050405020304" pitchFamily="18" charset="0"/>
                        </a:rPr>
                        <a:t>元</a:t>
                      </a:r>
                    </a:p>
                  </a:txBody>
                  <a:tcPr marL="68580" marR="68580" marT="0" marB="0" anchor="ctr"/>
                </a:tc>
                <a:extLst>
                  <a:ext uri="{0D108BD9-81ED-4DB2-BD59-A6C34878D82A}">
                    <a16:rowId xmlns:a16="http://schemas.microsoft.com/office/drawing/2014/main" val="423112926"/>
                  </a:ext>
                </a:extLst>
              </a:tr>
              <a:tr h="532755">
                <a:tc>
                  <a:txBody>
                    <a:bodyPr/>
                    <a:lstStyle/>
                    <a:p>
                      <a:pPr algn="ctr">
                        <a:lnSpc>
                          <a:spcPts val="1500"/>
                        </a:lnSpc>
                        <a:spcBef>
                          <a:spcPts val="240"/>
                        </a:spcBef>
                        <a:spcAft>
                          <a:spcPts val="0"/>
                        </a:spcAft>
                      </a:pPr>
                      <a:r>
                        <a:rPr lang="zh-CN" sz="2400" b="0" kern="100" dirty="0">
                          <a:solidFill>
                            <a:schemeClr val="bg1"/>
                          </a:solidFill>
                          <a:effectLst/>
                          <a:latin typeface="Times New Roman" panose="02020603050405020304" pitchFamily="18" charset="0"/>
                          <a:ea typeface="+mj-ea"/>
                          <a:cs typeface="Times New Roman" panose="02020603050405020304" pitchFamily="18" charset="0"/>
                        </a:rPr>
                        <a:t>超声波传感器（</a:t>
                      </a:r>
                      <a:r>
                        <a:rPr lang="en-US" sz="2400" b="0" kern="100" dirty="0">
                          <a:solidFill>
                            <a:schemeClr val="bg1"/>
                          </a:solidFill>
                          <a:effectLst/>
                          <a:latin typeface="Times New Roman" panose="02020603050405020304" pitchFamily="18" charset="0"/>
                          <a:ea typeface="+mj-ea"/>
                          <a:cs typeface="Times New Roman" panose="02020603050405020304" pitchFamily="18" charset="0"/>
                        </a:rPr>
                        <a:t>HC-SR04</a:t>
                      </a:r>
                      <a:r>
                        <a:rPr lang="zh-CN" sz="2400" b="0" kern="100" dirty="0">
                          <a:solidFill>
                            <a:schemeClr val="bg1"/>
                          </a:solidFill>
                          <a:effectLst/>
                          <a:latin typeface="Times New Roman" panose="02020603050405020304" pitchFamily="18" charset="0"/>
                          <a:ea typeface="+mj-ea"/>
                          <a:cs typeface="Times New Roman" panose="02020603050405020304" pitchFamily="18" charset="0"/>
                        </a:rPr>
                        <a:t>）</a:t>
                      </a: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5.53</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5.53</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729519158"/>
                  </a:ext>
                </a:extLst>
              </a:tr>
              <a:tr h="470324">
                <a:tc>
                  <a:txBody>
                    <a:bodyPr/>
                    <a:lstStyle/>
                    <a:p>
                      <a:pPr algn="ctr">
                        <a:lnSpc>
                          <a:spcPts val="1500"/>
                        </a:lnSpc>
                        <a:spcBef>
                          <a:spcPts val="240"/>
                        </a:spcBef>
                        <a:spcAft>
                          <a:spcPts val="0"/>
                        </a:spcAft>
                      </a:pPr>
                      <a:r>
                        <a:rPr lang="en-US" sz="2400" b="0" kern="100" dirty="0">
                          <a:solidFill>
                            <a:schemeClr val="bg1"/>
                          </a:solidFill>
                          <a:effectLst/>
                          <a:latin typeface="Times New Roman" panose="02020603050405020304" pitchFamily="18" charset="0"/>
                          <a:ea typeface="+mj-ea"/>
                          <a:cs typeface="Times New Roman" panose="02020603050405020304" pitchFamily="18" charset="0"/>
                        </a:rPr>
                        <a:t>12V</a:t>
                      </a:r>
                      <a:r>
                        <a:rPr lang="zh-CN" sz="2400" b="0" kern="100" dirty="0">
                          <a:solidFill>
                            <a:schemeClr val="bg1"/>
                          </a:solidFill>
                          <a:effectLst/>
                          <a:latin typeface="Times New Roman" panose="02020603050405020304" pitchFamily="18" charset="0"/>
                          <a:ea typeface="+mj-ea"/>
                          <a:cs typeface="Times New Roman" panose="02020603050405020304" pitchFamily="18" charset="0"/>
                        </a:rPr>
                        <a:t>直流风扇</a:t>
                      </a: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19.5</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1</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19.5</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2315075378"/>
                  </a:ext>
                </a:extLst>
              </a:tr>
              <a:tr h="470324">
                <a:tc>
                  <a:txBody>
                    <a:bodyPr/>
                    <a:lstStyle/>
                    <a:p>
                      <a:pPr algn="ctr">
                        <a:lnSpc>
                          <a:spcPts val="1500"/>
                        </a:lnSpc>
                        <a:spcBef>
                          <a:spcPts val="240"/>
                        </a:spcBef>
                        <a:spcAft>
                          <a:spcPts val="0"/>
                        </a:spcAft>
                      </a:pPr>
                      <a:r>
                        <a:rPr lang="zh-CN" altLang="en-US" sz="2400" b="0" kern="100" dirty="0">
                          <a:solidFill>
                            <a:schemeClr val="bg1"/>
                          </a:solidFill>
                          <a:effectLst/>
                          <a:latin typeface="Times New Roman" panose="02020603050405020304" pitchFamily="18" charset="0"/>
                          <a:ea typeface="+mj-ea"/>
                          <a:cs typeface="Times New Roman" panose="02020603050405020304" pitchFamily="18" charset="0"/>
                        </a:rPr>
                        <a:t>电源适配器</a:t>
                      </a:r>
                      <a:endParaRPr lang="zh-CN" sz="2400" b="0" kern="100" dirty="0">
                        <a:solidFill>
                          <a:schemeClr val="bg1"/>
                        </a:solidFill>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28.27</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1</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28.27</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963675165"/>
                  </a:ext>
                </a:extLst>
              </a:tr>
              <a:tr h="470324">
                <a:tc>
                  <a:txBody>
                    <a:bodyPr/>
                    <a:lstStyle/>
                    <a:p>
                      <a:pPr algn="ctr">
                        <a:lnSpc>
                          <a:spcPts val="1500"/>
                        </a:lnSpc>
                        <a:spcBef>
                          <a:spcPts val="240"/>
                        </a:spcBef>
                        <a:spcAft>
                          <a:spcPts val="0"/>
                        </a:spcAft>
                      </a:pPr>
                      <a:r>
                        <a:rPr lang="en-US" altLang="zh-CN" sz="2400" b="0" dirty="0">
                          <a:solidFill>
                            <a:schemeClr val="bg1"/>
                          </a:solidFill>
                          <a:latin typeface="Times New Roman" panose="02020603050405020304" pitchFamily="18" charset="0"/>
                          <a:ea typeface="+mj-ea"/>
                          <a:cs typeface="Times New Roman" panose="02020603050405020304" pitchFamily="18" charset="0"/>
                        </a:rPr>
                        <a:t>HW-688</a:t>
                      </a:r>
                      <a:r>
                        <a:rPr lang="zh-CN" altLang="en-US" sz="2400" b="0" dirty="0">
                          <a:solidFill>
                            <a:schemeClr val="bg1"/>
                          </a:solidFill>
                          <a:latin typeface="Times New Roman" panose="02020603050405020304" pitchFamily="18" charset="0"/>
                          <a:ea typeface="+mj-ea"/>
                          <a:cs typeface="Times New Roman" panose="02020603050405020304" pitchFamily="18" charset="0"/>
                        </a:rPr>
                        <a:t>降压模块</a:t>
                      </a:r>
                      <a:endParaRPr lang="zh-CN" sz="2400" b="0" kern="100" dirty="0">
                        <a:solidFill>
                          <a:schemeClr val="bg1"/>
                        </a:solidFill>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15.75</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15.75</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3942441823"/>
                  </a:ext>
                </a:extLst>
              </a:tr>
              <a:tr h="470324">
                <a:tc>
                  <a:txBody>
                    <a:bodyPr/>
                    <a:lstStyle/>
                    <a:p>
                      <a:pPr algn="ctr">
                        <a:lnSpc>
                          <a:spcPts val="1500"/>
                        </a:lnSpc>
                        <a:spcBef>
                          <a:spcPts val="240"/>
                        </a:spcBef>
                        <a:spcAft>
                          <a:spcPts val="0"/>
                        </a:spcAft>
                      </a:pPr>
                      <a:r>
                        <a:rPr lang="zh-CN" altLang="en-US" sz="2400" b="0" kern="100" dirty="0">
                          <a:solidFill>
                            <a:schemeClr val="bg1"/>
                          </a:solidFill>
                          <a:effectLst/>
                          <a:latin typeface="Times New Roman" panose="02020603050405020304" pitchFamily="18" charset="0"/>
                          <a:ea typeface="+mj-ea"/>
                          <a:cs typeface="Times New Roman" panose="02020603050405020304" pitchFamily="18" charset="0"/>
                        </a:rPr>
                        <a:t>开关、线材</a:t>
                      </a:r>
                      <a:endParaRPr lang="zh-CN" sz="2400" b="0" kern="100" dirty="0">
                        <a:solidFill>
                          <a:schemeClr val="bg1"/>
                        </a:solidFill>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20</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20</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413143630"/>
                  </a:ext>
                </a:extLst>
              </a:tr>
              <a:tr h="470324">
                <a:tc>
                  <a:txBody>
                    <a:bodyPr/>
                    <a:lstStyle/>
                    <a:p>
                      <a:pPr algn="ctr">
                        <a:lnSpc>
                          <a:spcPts val="1500"/>
                        </a:lnSpc>
                        <a:spcBef>
                          <a:spcPts val="240"/>
                        </a:spcBef>
                        <a:spcAft>
                          <a:spcPts val="0"/>
                        </a:spcAft>
                      </a:pPr>
                      <a:r>
                        <a:rPr lang="en-US" sz="2400" b="0" kern="100" dirty="0">
                          <a:solidFill>
                            <a:schemeClr val="bg1"/>
                          </a:solidFill>
                          <a:effectLst/>
                          <a:latin typeface="Times New Roman" panose="02020603050405020304" pitchFamily="18" charset="0"/>
                          <a:ea typeface="+mj-ea"/>
                          <a:cs typeface="Times New Roman" panose="02020603050405020304" pitchFamily="18" charset="0"/>
                        </a:rPr>
                        <a:t>MG996R</a:t>
                      </a:r>
                      <a:r>
                        <a:rPr lang="zh-CN" sz="2400" b="0" kern="100" dirty="0">
                          <a:solidFill>
                            <a:schemeClr val="bg1"/>
                          </a:solidFill>
                          <a:effectLst/>
                          <a:latin typeface="Times New Roman" panose="02020603050405020304" pitchFamily="18" charset="0"/>
                          <a:ea typeface="+mj-ea"/>
                          <a:cs typeface="Times New Roman" panose="02020603050405020304" pitchFamily="18" charset="0"/>
                        </a:rPr>
                        <a:t>舵机</a:t>
                      </a: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12.5</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1</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12.5</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2072893980"/>
                  </a:ext>
                </a:extLst>
              </a:tr>
              <a:tr h="470324">
                <a:tc>
                  <a:txBody>
                    <a:bodyPr/>
                    <a:lstStyle/>
                    <a:p>
                      <a:pPr algn="ctr">
                        <a:lnSpc>
                          <a:spcPts val="1500"/>
                        </a:lnSpc>
                        <a:spcBef>
                          <a:spcPts val="240"/>
                        </a:spcBef>
                        <a:spcAft>
                          <a:spcPts val="0"/>
                        </a:spcAft>
                      </a:pPr>
                      <a:r>
                        <a:rPr lang="zh-CN" altLang="en-US" sz="2400" b="0" kern="100" dirty="0">
                          <a:solidFill>
                            <a:schemeClr val="bg1"/>
                          </a:solidFill>
                          <a:effectLst/>
                          <a:latin typeface="Times New Roman" panose="02020603050405020304" pitchFamily="18" charset="0"/>
                          <a:ea typeface="+mj-ea"/>
                          <a:cs typeface="Times New Roman" panose="02020603050405020304" pitchFamily="18" charset="0"/>
                        </a:rPr>
                        <a:t>推力轴承</a:t>
                      </a:r>
                      <a:endParaRPr lang="zh-CN" sz="2400" b="0" kern="100" dirty="0">
                        <a:solidFill>
                          <a:schemeClr val="bg1"/>
                        </a:solidFill>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17.44</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17.44</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2109575458"/>
                  </a:ext>
                </a:extLst>
              </a:tr>
              <a:tr h="470324">
                <a:tc>
                  <a:txBody>
                    <a:bodyPr/>
                    <a:lstStyle/>
                    <a:p>
                      <a:pPr algn="ctr">
                        <a:lnSpc>
                          <a:spcPts val="1500"/>
                        </a:lnSpc>
                        <a:spcBef>
                          <a:spcPts val="240"/>
                        </a:spcBef>
                        <a:spcAft>
                          <a:spcPts val="0"/>
                        </a:spcAft>
                      </a:pPr>
                      <a:r>
                        <a:rPr lang="zh-CN" altLang="en-US" sz="2400" b="0" kern="100" dirty="0">
                          <a:solidFill>
                            <a:schemeClr val="bg1"/>
                          </a:solidFill>
                          <a:effectLst/>
                          <a:latin typeface="Times New Roman" panose="02020603050405020304" pitchFamily="18" charset="0"/>
                          <a:ea typeface="+mj-ea"/>
                          <a:cs typeface="Times New Roman" panose="02020603050405020304" pitchFamily="18" charset="0"/>
                        </a:rPr>
                        <a:t>其他</a:t>
                      </a:r>
                      <a:endParaRPr lang="zh-CN" sz="2400" b="0" kern="100" dirty="0">
                        <a:solidFill>
                          <a:schemeClr val="bg1"/>
                        </a:solidFill>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20</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20</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775254065"/>
                  </a:ext>
                </a:extLst>
              </a:tr>
              <a:tr h="470324">
                <a:tc>
                  <a:txBody>
                    <a:bodyPr/>
                    <a:lstStyle/>
                    <a:p>
                      <a:pPr algn="ctr">
                        <a:lnSpc>
                          <a:spcPts val="1500"/>
                        </a:lnSpc>
                        <a:spcBef>
                          <a:spcPts val="240"/>
                        </a:spcBef>
                        <a:spcAft>
                          <a:spcPts val="0"/>
                        </a:spcAft>
                      </a:pPr>
                      <a:r>
                        <a:rPr lang="zh-CN" sz="2400" b="0" kern="100" dirty="0">
                          <a:solidFill>
                            <a:schemeClr val="bg1"/>
                          </a:solidFill>
                          <a:effectLst/>
                          <a:latin typeface="Times New Roman" panose="02020603050405020304" pitchFamily="18" charset="0"/>
                          <a:ea typeface="+mj-ea"/>
                          <a:cs typeface="Times New Roman" panose="02020603050405020304" pitchFamily="18" charset="0"/>
                        </a:rPr>
                        <a:t>总计</a:t>
                      </a: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sz="2400" b="0" kern="100" dirty="0">
                          <a:effectLst/>
                          <a:latin typeface="Times New Roman" panose="02020603050405020304" pitchFamily="18" charset="0"/>
                          <a:ea typeface="+mj-ea"/>
                          <a:cs typeface="Times New Roman" panose="02020603050405020304" pitchFamily="18" charset="0"/>
                        </a:rPr>
                        <a:t>—</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lnSpc>
                          <a:spcPts val="1500"/>
                        </a:lnSpc>
                        <a:spcBef>
                          <a:spcPts val="240"/>
                        </a:spcBef>
                        <a:spcAft>
                          <a:spcPts val="0"/>
                        </a:spcAft>
                      </a:pPr>
                      <a:r>
                        <a:rPr lang="en-US" altLang="zh-CN" sz="2400" b="0" kern="100" dirty="0">
                          <a:effectLst/>
                          <a:latin typeface="Times New Roman" panose="02020603050405020304" pitchFamily="18" charset="0"/>
                          <a:ea typeface="+mj-ea"/>
                          <a:cs typeface="Times New Roman" panose="02020603050405020304" pitchFamily="18" charset="0"/>
                        </a:rPr>
                        <a:t>138.99</a:t>
                      </a:r>
                      <a:endParaRPr lang="zh-CN" sz="2400" b="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3634346739"/>
                  </a:ext>
                </a:extLst>
              </a:tr>
            </a:tbl>
          </a:graphicData>
        </a:graphic>
      </p:graphicFrame>
    </p:spTree>
    <p:extLst>
      <p:ext uri="{BB962C8B-B14F-4D97-AF65-F5344CB8AC3E}">
        <p14:creationId xmlns:p14="http://schemas.microsoft.com/office/powerpoint/2010/main" val="1311986257"/>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7589" y="105583"/>
            <a:ext cx="10515600" cy="1325563"/>
          </a:xfrm>
          <a:effectLst/>
        </p:spPr>
        <p:txBody>
          <a:bodyPr>
            <a:normAutofit/>
          </a:bodyPr>
          <a:lstStyle/>
          <a:p>
            <a:r>
              <a:rPr lang="zh-CN" altLang="en-US" sz="5400" b="1" dirty="0">
                <a:solidFill>
                  <a:schemeClr val="bg1"/>
                </a:solidFill>
                <a:latin typeface="微软雅黑 Light" panose="020B0502040204020203" charset="-122"/>
                <a:ea typeface="微软雅黑 Light" panose="020B0502040204020203" charset="-122"/>
              </a:rPr>
              <a:t>预期效果</a:t>
            </a:r>
            <a:endParaRPr lang="zh-CN" altLang="en-US" sz="54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4" name="文本框 3"/>
          <p:cNvSpPr txBox="1"/>
          <p:nvPr/>
        </p:nvSpPr>
        <p:spPr>
          <a:xfrm>
            <a:off x="4113567" y="553984"/>
            <a:ext cx="6278257" cy="584775"/>
          </a:xfrm>
          <a:prstGeom prst="rect">
            <a:avLst/>
          </a:prstGeom>
          <a:noFill/>
        </p:spPr>
        <p:txBody>
          <a:bodyPr wrap="none" rtlCol="0">
            <a:spAutoFit/>
          </a:bodyPr>
          <a:lstStyle/>
          <a:p>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一种基于</a:t>
            </a:r>
            <a:r>
              <a:rPr lang="en-US" altLang="zh-CN"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Arduino</a:t>
            </a:r>
            <a:r>
              <a:rPr lang="zh-CN" altLang="en-US" sz="3200" dirty="0">
                <a:solidFill>
                  <a:schemeClr val="accent3"/>
                </a:solidFill>
                <a:latin typeface="微软雅黑" panose="020B0503020204020204" pitchFamily="34" charset="-122"/>
                <a:ea typeface="微软雅黑" panose="020B0503020204020204" pitchFamily="34" charset="-122"/>
                <a:cs typeface="微软雅黑" panose="020B0503020204020204" pitchFamily="34" charset="-122"/>
                <a:sym typeface="+mn-ea"/>
              </a:rPr>
              <a:t>的智能无叶风扇</a:t>
            </a:r>
            <a:endParaRPr lang="zh-CN" altLang="en-US" sz="3200" dirty="0">
              <a:solidFill>
                <a:schemeClr val="accent3"/>
              </a:solidFill>
              <a:latin typeface="微软雅黑 Light" panose="020B0502040204020203" charset="-122"/>
              <a:ea typeface="微软雅黑 Light" panose="020B0502040204020203" charset="-122"/>
            </a:endParaRPr>
          </a:p>
        </p:txBody>
      </p:sp>
      <p:sp>
        <p:nvSpPr>
          <p:cNvPr id="7" name="文本框 6"/>
          <p:cNvSpPr txBox="1"/>
          <p:nvPr/>
        </p:nvSpPr>
        <p:spPr>
          <a:xfrm>
            <a:off x="1625600" y="3052445"/>
            <a:ext cx="153035" cy="368300"/>
          </a:xfrm>
          <a:prstGeom prst="rect">
            <a:avLst/>
          </a:prstGeom>
          <a:noFill/>
        </p:spPr>
        <p:txBody>
          <a:bodyPr wrap="square" rtlCol="0">
            <a:spAutoFit/>
          </a:bodyPr>
          <a:lstStyle/>
          <a:p>
            <a:endParaRPr lang="zh-CN" altLang="en-US"/>
          </a:p>
        </p:txBody>
      </p:sp>
      <p:cxnSp>
        <p:nvCxnSpPr>
          <p:cNvPr id="6" name="直接连接符 5"/>
          <p:cNvCxnSpPr/>
          <p:nvPr/>
        </p:nvCxnSpPr>
        <p:spPr>
          <a:xfrm>
            <a:off x="0" y="1162146"/>
            <a:ext cx="7065818" cy="0"/>
          </a:xfrm>
          <a:prstGeom prst="line">
            <a:avLst/>
          </a:prstGeom>
          <a:ln w="444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88D2AA11-E5CE-4D5D-8053-79A8DC60844A}"/>
              </a:ext>
            </a:extLst>
          </p:cNvPr>
          <p:cNvSpPr txBox="1"/>
          <p:nvPr/>
        </p:nvSpPr>
        <p:spPr>
          <a:xfrm>
            <a:off x="712204" y="1292192"/>
            <a:ext cx="11479796" cy="6494085"/>
          </a:xfrm>
          <a:prstGeom prst="rect">
            <a:avLst/>
          </a:prstGeom>
          <a:noFill/>
        </p:spPr>
        <p:txBody>
          <a:bodyPr wrap="square" rtlCol="0">
            <a:spAutoFit/>
          </a:bodyPr>
          <a:lstStyle/>
          <a:p>
            <a:r>
              <a:rPr lang="zh-CN" altLang="en-US" sz="3200" dirty="0">
                <a:solidFill>
                  <a:schemeClr val="accent4"/>
                </a:solidFill>
                <a:latin typeface="Microsoft YaHei UI" panose="020B0503020204020204" pitchFamily="34" charset="-122"/>
                <a:ea typeface="Microsoft YaHei UI" panose="020B0503020204020204" pitchFamily="34" charset="-122"/>
              </a:rPr>
              <a:t>软件代码：</a:t>
            </a:r>
            <a:r>
              <a:rPr lang="zh-CN" altLang="en-US" sz="3200" dirty="0">
                <a:solidFill>
                  <a:schemeClr val="bg1"/>
                </a:solidFill>
                <a:latin typeface="Microsoft YaHei UI" panose="020B0503020204020204" pitchFamily="34" charset="-122"/>
                <a:ea typeface="Microsoft YaHei UI" panose="020B0503020204020204" pitchFamily="34" charset="-122"/>
              </a:rPr>
              <a:t>实现所有提到的智能功能，并且尽量提升代码的可读性。</a:t>
            </a:r>
            <a:endParaRPr lang="en-US" altLang="zh-CN" sz="3200" dirty="0">
              <a:solidFill>
                <a:schemeClr val="bg1"/>
              </a:solidFill>
              <a:latin typeface="Microsoft YaHei UI" panose="020B0503020204020204" pitchFamily="34" charset="-122"/>
              <a:ea typeface="Microsoft YaHei UI" panose="020B0503020204020204" pitchFamily="34" charset="-122"/>
            </a:endParaRPr>
          </a:p>
          <a:p>
            <a:endParaRPr lang="zh-CN" altLang="en-US" sz="3200" dirty="0">
              <a:solidFill>
                <a:schemeClr val="bg1"/>
              </a:solidFill>
              <a:latin typeface="Microsoft YaHei UI" panose="020B0503020204020204" pitchFamily="34" charset="-122"/>
              <a:ea typeface="Microsoft YaHei UI" panose="020B0503020204020204" pitchFamily="34" charset="-122"/>
            </a:endParaRPr>
          </a:p>
          <a:p>
            <a:r>
              <a:rPr lang="zh-CN" altLang="en-US" sz="3200" dirty="0">
                <a:solidFill>
                  <a:schemeClr val="accent4"/>
                </a:solidFill>
                <a:latin typeface="Microsoft YaHei UI" panose="020B0503020204020204" pitchFamily="34" charset="-122"/>
                <a:ea typeface="Microsoft YaHei UI" panose="020B0503020204020204" pitchFamily="34" charset="-122"/>
              </a:rPr>
              <a:t>硬件实物：</a:t>
            </a:r>
            <a:r>
              <a:rPr lang="zh-CN" altLang="en-US" sz="3200" dirty="0">
                <a:solidFill>
                  <a:schemeClr val="bg1"/>
                </a:solidFill>
                <a:latin typeface="Microsoft YaHei UI" panose="020B0503020204020204" pitchFamily="34" charset="-122"/>
                <a:ea typeface="Microsoft YaHei UI" panose="020B0503020204020204" pitchFamily="34" charset="-122"/>
              </a:rPr>
              <a:t>制成一个大小为</a:t>
            </a:r>
            <a:r>
              <a:rPr lang="en-US" altLang="zh-CN" sz="3200" dirty="0">
                <a:solidFill>
                  <a:schemeClr val="bg1"/>
                </a:solidFill>
                <a:latin typeface="Microsoft YaHei UI" panose="020B0503020204020204" pitchFamily="34" charset="-122"/>
                <a:ea typeface="Microsoft YaHei UI" panose="020B0503020204020204" pitchFamily="34" charset="-122"/>
              </a:rPr>
              <a:t>10cmx10cmx25cm</a:t>
            </a:r>
            <a:r>
              <a:rPr lang="zh-CN" altLang="en-US" sz="3200" dirty="0">
                <a:solidFill>
                  <a:schemeClr val="bg1"/>
                </a:solidFill>
                <a:latin typeface="Microsoft YaHei UI" panose="020B0503020204020204" pitchFamily="34" charset="-122"/>
                <a:ea typeface="Microsoft YaHei UI" panose="020B0503020204020204" pitchFamily="34" charset="-122"/>
              </a:rPr>
              <a:t>的智能无叶风扇，外观美观大方，颜色简约富有科技感。</a:t>
            </a:r>
            <a:endParaRPr lang="en-US" altLang="zh-CN" sz="3200" dirty="0">
              <a:solidFill>
                <a:schemeClr val="bg1"/>
              </a:solidFill>
              <a:latin typeface="Microsoft YaHei UI" panose="020B0503020204020204" pitchFamily="34" charset="-122"/>
              <a:ea typeface="Microsoft YaHei UI" panose="020B0503020204020204" pitchFamily="34" charset="-122"/>
            </a:endParaRPr>
          </a:p>
          <a:p>
            <a:endParaRPr lang="zh-CN" altLang="en-US" sz="3200" dirty="0">
              <a:solidFill>
                <a:schemeClr val="bg1"/>
              </a:solidFill>
              <a:latin typeface="Microsoft YaHei UI" panose="020B0503020204020204" pitchFamily="34" charset="-122"/>
              <a:ea typeface="Microsoft YaHei UI" panose="020B0503020204020204" pitchFamily="34" charset="-122"/>
            </a:endParaRPr>
          </a:p>
          <a:p>
            <a:r>
              <a:rPr lang="zh-CN" altLang="en-US" sz="3200" dirty="0">
                <a:solidFill>
                  <a:schemeClr val="accent4"/>
                </a:solidFill>
                <a:latin typeface="Microsoft YaHei UI" panose="020B0503020204020204" pitchFamily="34" charset="-122"/>
                <a:ea typeface="Microsoft YaHei UI" panose="020B0503020204020204" pitchFamily="34" charset="-122"/>
              </a:rPr>
              <a:t>实现效果：</a:t>
            </a:r>
            <a:r>
              <a:rPr lang="zh-CN" altLang="en-US" sz="3200" dirty="0">
                <a:solidFill>
                  <a:schemeClr val="bg1"/>
                </a:solidFill>
                <a:latin typeface="Microsoft YaHei UI" panose="020B0503020204020204" pitchFamily="34" charset="-122"/>
                <a:ea typeface="Microsoft YaHei UI" panose="020B0503020204020204" pitchFamily="34" charset="-122"/>
              </a:rPr>
              <a:t>用户将本产品放置于办公桌面，可根据与用户的距离自动适配合适、舒适的出风量，在用户暂时离开时能暂停吹风，用户回来时能以先前的设置继续吹风。当用户选择旋转功能时，无叶风扇可左右摆动旋转吹风。用户可以通过按钮切换风扇工作模式（普通</a:t>
            </a:r>
            <a:r>
              <a:rPr lang="en-US" altLang="zh-CN" sz="3200" dirty="0">
                <a:solidFill>
                  <a:schemeClr val="bg1"/>
                </a:solidFill>
                <a:latin typeface="Microsoft YaHei UI" panose="020B0503020204020204" pitchFamily="34" charset="-122"/>
                <a:ea typeface="Microsoft YaHei UI" panose="020B0503020204020204" pitchFamily="34" charset="-122"/>
              </a:rPr>
              <a:t>/</a:t>
            </a:r>
            <a:r>
              <a:rPr lang="zh-CN" altLang="en-US" sz="3200" dirty="0">
                <a:solidFill>
                  <a:schemeClr val="bg1"/>
                </a:solidFill>
                <a:latin typeface="Microsoft YaHei UI" panose="020B0503020204020204" pitchFamily="34" charset="-122"/>
                <a:ea typeface="Microsoft YaHei UI" panose="020B0503020204020204" pitchFamily="34" charset="-122"/>
              </a:rPr>
              <a:t>智能），并且可以得到指示灯的反馈。</a:t>
            </a:r>
          </a:p>
          <a:p>
            <a:endParaRPr lang="zh-CN" altLang="en-US" sz="3200" dirty="0">
              <a:solidFill>
                <a:schemeClr val="bg1"/>
              </a:solidFill>
              <a:latin typeface="Microsoft YaHei UI" panose="020B0503020204020204" pitchFamily="34" charset="-122"/>
              <a:ea typeface="Microsoft YaHei UI" panose="020B0503020204020204" pitchFamily="34" charset="-122"/>
            </a:endParaRPr>
          </a:p>
          <a:p>
            <a:r>
              <a:rPr lang="zh-CN" altLang="en-US" sz="3200" dirty="0">
                <a:solidFill>
                  <a:schemeClr val="bg1"/>
                </a:solidFill>
                <a:latin typeface="Microsoft YaHei UI" panose="020B0503020204020204" pitchFamily="34" charset="-122"/>
                <a:ea typeface="Microsoft YaHei UI" panose="020B0503020204020204" pitchFamily="34" charset="-122"/>
              </a:rPr>
              <a:t> </a:t>
            </a:r>
            <a:endParaRPr lang="en-US" altLang="zh-CN" sz="3200" dirty="0">
              <a:solidFill>
                <a:schemeClr val="bg1"/>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70962746"/>
      </p:ext>
    </p:extLst>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443295" y="4392716"/>
            <a:ext cx="3588040" cy="2426076"/>
          </a:xfrm>
          <a:effectLst/>
        </p:spPr>
        <p:txBody>
          <a:bodyPr>
            <a:noAutofit/>
          </a:bodyPr>
          <a:lstStyle/>
          <a:p>
            <a:r>
              <a:rPr lang="zh-CN" altLang="en-US" sz="11500" b="1" dirty="0">
                <a:solidFill>
                  <a:schemeClr val="bg1"/>
                </a:solidFill>
                <a:latin typeface="微软雅黑 Light" panose="020B0502040204020203" charset="-122"/>
                <a:ea typeface="微软雅黑 Light" panose="020B0502040204020203" charset="-122"/>
              </a:rPr>
              <a:t>谢谢</a:t>
            </a:r>
            <a:endParaRPr lang="zh-CN" altLang="en-US" sz="115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
        <p:nvSpPr>
          <p:cNvPr id="7" name="文本框 6"/>
          <p:cNvSpPr txBox="1"/>
          <p:nvPr/>
        </p:nvSpPr>
        <p:spPr>
          <a:xfrm>
            <a:off x="1625600" y="3052445"/>
            <a:ext cx="153035" cy="368300"/>
          </a:xfrm>
          <a:prstGeom prst="rect">
            <a:avLst/>
          </a:prstGeom>
          <a:noFill/>
        </p:spPr>
        <p:txBody>
          <a:bodyPr wrap="square" rtlCol="0">
            <a:spAutoFit/>
          </a:bodyPr>
          <a:lstStyle/>
          <a:p>
            <a:endParaRPr lang="zh-CN" altLang="en-US"/>
          </a:p>
        </p:txBody>
      </p:sp>
      <p:cxnSp>
        <p:nvCxnSpPr>
          <p:cNvPr id="8" name="直接连接符 3"/>
          <p:cNvCxnSpPr/>
          <p:nvPr/>
        </p:nvCxnSpPr>
        <p:spPr>
          <a:xfrm>
            <a:off x="11799528" y="4353874"/>
            <a:ext cx="0" cy="2243831"/>
          </a:xfrm>
          <a:prstGeom prst="line">
            <a:avLst/>
          </a:prstGeom>
          <a:ln w="47625" cmpd="sng">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4" name="标题 1"/>
          <p:cNvSpPr txBox="1"/>
          <p:nvPr/>
        </p:nvSpPr>
        <p:spPr>
          <a:xfrm>
            <a:off x="5520906" y="4107672"/>
            <a:ext cx="3609440" cy="673145"/>
          </a:xfrm>
          <a:prstGeom prst="rect">
            <a:avLst/>
          </a:prstGeom>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360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Light" panose="020B0502040204020203" charset="-122"/>
              <a:ea typeface="微软雅黑 Light" panose="020B0502040204020203" charset="-122"/>
            </a:endParaRPr>
          </a:p>
        </p:txBody>
      </p:sp>
    </p:spTree>
  </p:cSld>
  <p:clrMapOvr>
    <a:masterClrMapping/>
  </p:clrMapOvr>
  <p:transition>
    <p:fade thruBlk="1"/>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983</TotalTime>
  <Words>1128</Words>
  <Application>Microsoft Office PowerPoint</Application>
  <PresentationFormat>宽屏</PresentationFormat>
  <Paragraphs>131</Paragraphs>
  <Slides>17</Slides>
  <Notes>13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Microsoft YaHei UI</vt:lpstr>
      <vt:lpstr>等线 Light</vt:lpstr>
      <vt:lpstr>宋体</vt:lpstr>
      <vt:lpstr>微软雅黑</vt:lpstr>
      <vt:lpstr>微软雅黑 Light</vt:lpstr>
      <vt:lpstr>Arial</vt:lpstr>
      <vt:lpstr>Calibri</vt:lpstr>
      <vt:lpstr>Calibri Light</vt:lpstr>
      <vt:lpstr>Times New Roman</vt:lpstr>
      <vt:lpstr>Office 主题</vt:lpstr>
      <vt:lpstr>PowerPoint 演示文稿</vt:lpstr>
      <vt:lpstr>PowerPoint 演示文稿</vt:lpstr>
      <vt:lpstr>项目由来</vt:lpstr>
      <vt:lpstr>智能家居！</vt:lpstr>
      <vt:lpstr>研究现状</vt:lpstr>
      <vt:lpstr>国外研究现状</vt:lpstr>
      <vt:lpstr>国外研究现状</vt:lpstr>
      <vt:lpstr>研究内容</vt:lpstr>
      <vt:lpstr>具体方案</vt:lpstr>
      <vt:lpstr>具体方案</vt:lpstr>
      <vt:lpstr>具体方案</vt:lpstr>
      <vt:lpstr>具体方案</vt:lpstr>
      <vt:lpstr>进度安排</vt:lpstr>
      <vt:lpstr>六、人员分工</vt:lpstr>
      <vt:lpstr>经费使用</vt:lpstr>
      <vt:lpstr>预期效果</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mattlee</dc:creator>
  <cp:lastModifiedBy>刘 涵之</cp:lastModifiedBy>
  <cp:revision>116</cp:revision>
  <dcterms:created xsi:type="dcterms:W3CDTF">1900-01-01T00:00:00Z</dcterms:created>
  <dcterms:modified xsi:type="dcterms:W3CDTF">2020-07-14T15:01:53Z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2052-10.1.0.6929</vt:lpwstr>
  </property>
</Properties>
</file>